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82C4D"/>
                </a:solidFill>
              </a:rPr>
              <a:t>Policy Sarthi AI Agent</a:t>
            </a:r>
          </a:p>
          <a:p>
            <a:pPr>
              <a:defRPr sz="2000">
                <a:solidFill>
                  <a:srgbClr val="59636E"/>
                </a:solidFill>
              </a:defRPr>
            </a:pPr>
            <a:r>
              <a:t>Hospital Policy Intelligence + Ayushman Bharat Guidance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977639"/>
            <a:ext cx="4754880" cy="6858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4178808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Jury Deck | Product + Architecture + Scale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611880"/>
            <a:ext cx="2011680" cy="1051560"/>
          </a:xfrm>
          <a:prstGeom prst="roundRect">
            <a:avLst/>
          </a:prstGeom>
          <a:solidFill>
            <a:srgbClr val="E8F1FC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384048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82C4D"/>
                </a:solidFill>
              </a:rPr>
              <a:t>Policy Docs
OCR + 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3611880"/>
            <a:ext cx="1554480" cy="1051560"/>
          </a:xfrm>
          <a:prstGeom prst="roundRect">
            <a:avLst/>
          </a:prstGeom>
          <a:solidFill>
            <a:srgbClr val="EAF6EE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3913632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C4D"/>
                </a:solidFill>
              </a:rPr>
              <a:t>Voice +
Multilingual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78440" y="3611880"/>
            <a:ext cx="1097280" cy="1051560"/>
          </a:xfrm>
          <a:prstGeom prst="roundRect">
            <a:avLst/>
          </a:prstGeom>
          <a:solidFill>
            <a:srgbClr val="FFF4E8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69880" y="3904487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C4D"/>
                </a:solidFill>
              </a:rPr>
              <a:t>RBAC
Secure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983480"/>
            <a:ext cx="10927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565C0"/>
                </a:solidFill>
              </a:rPr>
              <a:t>Submitted by: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82C4D"/>
                </a:solidFill>
              </a:rPr>
              <a:t>Avanish Dubey | Ramlal Singh | Priyanshu Bhardwaj | Akash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C4D"/>
                </a:solidFill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56032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636E"/>
                </a:solidFill>
              </a:rPr>
              <a:t>Why hospital teams need a policy intelligence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82C4D"/>
                </a:solidFill>
              </a:defRPr>
            </a:pPr>
            <a:r>
              <a:t>Hospital SOPs, circulars, billing policies, and claim rules are scattered across PDFs and folders.</a:t>
            </a:r>
          </a:p>
          <a:p>
            <a:pPr>
              <a:defRPr sz="2000">
                <a:solidFill>
                  <a:srgbClr val="182C4D"/>
                </a:solidFill>
              </a:defRPr>
            </a:pPr>
            <a:r>
              <a:t>Teams lose time in manual lookup during admission, discharge, and claim processing.</a:t>
            </a:r>
          </a:p>
          <a:p>
            <a:pPr>
              <a:defRPr sz="2000">
                <a:solidFill>
                  <a:srgbClr val="182C4D"/>
                </a:solidFill>
              </a:defRPr>
            </a:pPr>
            <a:r>
              <a:t>Incorrect or incomplete policy interpretation leads to rejection, delays, and compliance risk.</a:t>
            </a:r>
          </a:p>
          <a:p>
            <a:pPr>
              <a:defRPr sz="2000">
                <a:solidFill>
                  <a:srgbClr val="182C4D"/>
                </a:solidFill>
              </a:defRPr>
            </a:pPr>
            <a:r>
              <a:t>Staff needs multilingual support (text + voice) for real-time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C4D"/>
                </a:solidFill>
              </a:rP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56032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636E"/>
                </a:solidFill>
              </a:rPr>
              <a:t>Policy Sarthi as a grounded, multilingual hospital operations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566160" cy="2057400"/>
          </a:xfrm>
          <a:prstGeom prst="roundRect">
            <a:avLst/>
          </a:prstGeom>
          <a:solidFill>
            <a:srgbClr val="E8F1FC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Admin uploads structured and unstructured policy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3566160" cy="2057400"/>
          </a:xfrm>
          <a:prstGeom prst="roundRect">
            <a:avLst/>
          </a:prstGeom>
          <a:solidFill>
            <a:srgbClr val="EAF6EE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002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RAG + language + workflow context build grounded responses.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508760"/>
            <a:ext cx="3063240" cy="2057400"/>
          </a:xfrm>
          <a:prstGeom prst="roundRect">
            <a:avLst/>
          </a:prstGeom>
          <a:solidFill>
            <a:srgbClr val="FFF4E8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600200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Assist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920240"/>
            <a:ext cx="2788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Text + voice answers with source-backed guidance.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82C4D"/>
                </a:solidFill>
              </a:defRPr>
            </a:pPr>
            <a:r>
              <a:t>Role-based controls: only admin can upload policies.</a:t>
            </a:r>
          </a:p>
          <a:p>
            <a:pPr>
              <a:defRPr sz="1600">
                <a:solidFill>
                  <a:srgbClr val="182C4D"/>
                </a:solidFill>
              </a:defRPr>
            </a:pPr>
            <a:r>
              <a:t>Feedback loop: thumbs up/down with correction capture.</a:t>
            </a:r>
          </a:p>
          <a:p>
            <a:pPr>
              <a:defRPr sz="1600">
                <a:solidFill>
                  <a:srgbClr val="182C4D"/>
                </a:solidFill>
              </a:defRPr>
            </a:pPr>
            <a:r>
              <a:t>Designed for staff productivity, claim quality, and audit readiness.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C4D"/>
                </a:solidFill>
              </a:rPr>
              <a:t>Sarvam API 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56032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636E"/>
                </a:solidFill>
              </a:rPr>
              <a:t>Current integration footprint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194560" cy="9144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5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325880"/>
            <a:ext cx="2651760" cy="1508760"/>
          </a:xfrm>
          <a:prstGeom prst="roundRect">
            <a:avLst/>
          </a:prstGeom>
          <a:solidFill>
            <a:srgbClr val="E8F1FC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4173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1) Chat Completion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Answer generation over retrieved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325880"/>
            <a:ext cx="2651760" cy="1508760"/>
          </a:xfrm>
          <a:prstGeom prst="roundRect">
            <a:avLst/>
          </a:prstGeom>
          <a:solidFill>
            <a:srgbClr val="EAF6EE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173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2) Translation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373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Non-English query/response handling.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325880"/>
            <a:ext cx="2651760" cy="1508760"/>
          </a:xfrm>
          <a:prstGeom prst="roundRect">
            <a:avLst/>
          </a:prstGeom>
          <a:solidFill>
            <a:srgbClr val="FFF4E8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4173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3) Speech-to-Text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7373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Voice query transcription.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3063240"/>
            <a:ext cx="2651760" cy="1508760"/>
          </a:xfrm>
          <a:prstGeom prst="roundRect">
            <a:avLst/>
          </a:prstGeom>
          <a:solidFill>
            <a:srgbClr val="FFF4E8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31546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4) Text-to-Speech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4747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Voice response playback.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3063240"/>
            <a:ext cx="2651760" cy="1508760"/>
          </a:xfrm>
          <a:prstGeom prst="roundRect">
            <a:avLst/>
          </a:prstGeom>
          <a:solidFill>
            <a:srgbClr val="E8F1FC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1546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5) Document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4747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OCR/text extraction from uploads.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92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2C4D"/>
                </a:solidFill>
              </a:defRPr>
            </a:pPr>
            <a:r>
              <a:t>Sarvam APIs are orchestrated in backend service layer (`sarvam_client.py`).</a:t>
            </a:r>
          </a:p>
          <a:p>
            <a:pPr>
              <a:defRPr sz="1400">
                <a:solidFill>
                  <a:srgbClr val="182C4D"/>
                </a:solidFill>
              </a:defRPr>
            </a:pPr>
            <a:r>
              <a:t>Fallback paths exist when external API is unavailable.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C4D"/>
                </a:solidFill>
              </a:rPr>
              <a:t>End-to-End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56032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636E"/>
                </a:solidFill>
              </a:rPr>
              <a:t>From upload to grounded multilingual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828800" cy="914400"/>
          </a:xfrm>
          <a:prstGeom prst="roundRect">
            <a:avLst/>
          </a:prstGeom>
          <a:solidFill>
            <a:srgbClr val="E8F1FC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139696"/>
            <a:ext cx="160934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C4D"/>
                </a:solidFill>
              </a:rPr>
              <a:t>Admin Upload
(PDF/CSV/JSON)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011680"/>
            <a:ext cx="1828800" cy="914400"/>
          </a:xfrm>
          <a:prstGeom prst="roundRect">
            <a:avLst/>
          </a:prstGeom>
          <a:solidFill>
            <a:srgbClr val="EAF6EE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1488" y="2139696"/>
            <a:ext cx="160934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C4D"/>
                </a:solidFill>
              </a:rPr>
              <a:t>Extraction +
Chunking/Indexing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011680"/>
            <a:ext cx="1828800" cy="914400"/>
          </a:xfrm>
          <a:prstGeom prst="roundRect">
            <a:avLst/>
          </a:prstGeom>
          <a:solidFill>
            <a:srgbClr val="FFF4E8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4608" y="2139696"/>
            <a:ext cx="160934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C4D"/>
                </a:solidFill>
              </a:rPr>
              <a:t>User Query
(Text/Voice)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011680"/>
            <a:ext cx="1828800" cy="914400"/>
          </a:xfrm>
          <a:prstGeom prst="roundRect">
            <a:avLst/>
          </a:prstGeom>
          <a:solidFill>
            <a:srgbClr val="E8F1FC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139696"/>
            <a:ext cx="160934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C4D"/>
                </a:solidFill>
              </a:rPr>
              <a:t>Retrieve +
Ground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011680"/>
            <a:ext cx="2651760" cy="914400"/>
          </a:xfrm>
          <a:prstGeom prst="roundRect">
            <a:avLst/>
          </a:prstGeom>
          <a:solidFill>
            <a:srgbClr val="EAF6EE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2139696"/>
            <a:ext cx="243230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C4D"/>
                </a:solidFill>
              </a:rPr>
              <a:t>Response + Citation
+ Optional Voice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2468880"/>
            <a:ext cx="274320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80560" y="2468880"/>
            <a:ext cx="274320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2468880"/>
            <a:ext cx="274320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86800" y="2468880"/>
            <a:ext cx="274320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794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2C4D"/>
                </a:solidFill>
              </a:defRPr>
            </a:pPr>
            <a:r>
              <a:t>Structured data (CSV/JSON) is flattened and indexed as searchable rows.</a:t>
            </a:r>
          </a:p>
          <a:p>
            <a:pPr>
              <a:defRPr sz="1400">
                <a:solidFill>
                  <a:srgbClr val="182C4D"/>
                </a:solidFill>
              </a:defRPr>
            </a:pPr>
            <a:r>
              <a:t>Unstructured data (SOPs/PDFs) is chunked for retrieval evidence.</a:t>
            </a:r>
          </a:p>
          <a:p>
            <a:pPr>
              <a:defRPr sz="1400">
                <a:solidFill>
                  <a:srgbClr val="182C4D"/>
                </a:solidFill>
              </a:defRPr>
            </a:pPr>
            <a:r>
              <a:t>Feedback signal updates future retrieval ranking.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C4D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56032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636E"/>
                </a:solidFill>
              </a:rPr>
              <a:t>Production-aligned layered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463040"/>
            <a:ext cx="9966960" cy="713232"/>
          </a:xfrm>
          <a:prstGeom prst="roundRect">
            <a:avLst/>
          </a:prstGeom>
          <a:solidFill>
            <a:srgbClr val="E8F1FC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7" y="1591056"/>
            <a:ext cx="974750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C4D"/>
                </a:solidFill>
              </a:rPr>
              <a:t>Presentation Layer: Streamlit UI (chat, voice input, admin upload, feedback)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377440"/>
            <a:ext cx="996696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7" y="2505456"/>
            <a:ext cx="974750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C4D"/>
                </a:solidFill>
              </a:rPr>
              <a:t>Application Layer: Flask APIs, AuthN/AuthZ, Routing,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291840"/>
            <a:ext cx="9966960" cy="713232"/>
          </a:xfrm>
          <a:prstGeom prst="roundRect">
            <a:avLst/>
          </a:prstGeom>
          <a:solidFill>
            <a:srgbClr val="FFF4E8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3419856"/>
            <a:ext cx="974750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C4D"/>
                </a:solidFill>
              </a:rPr>
              <a:t>AI Layer: RAG Orchestrator, Sarvam Client, Language Handling, Prompt Composer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206240"/>
            <a:ext cx="9966960" cy="713232"/>
          </a:xfrm>
          <a:prstGeom prst="roundRect">
            <a:avLst/>
          </a:prstGeom>
          <a:solidFill>
            <a:srgbClr val="E8F1FC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7" y="4334255"/>
            <a:ext cx="974750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C4D"/>
                </a:solidFill>
              </a:rPr>
              <a:t>Data Layer: SQLite (users/docs/chunks/feedback/structured rows) + File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120640"/>
            <a:ext cx="9966960" cy="713232"/>
          </a:xfrm>
          <a:prstGeom prst="roundRect">
            <a:avLst/>
          </a:prstGeom>
          <a:solidFill>
            <a:srgbClr val="EAF6EE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5248655"/>
            <a:ext cx="974750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C4D"/>
                </a:solidFill>
              </a:rPr>
              <a:t>External Layer: Sarvam APIs + future vector DB + observability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176272"/>
            <a:ext cx="0" cy="18288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3090672"/>
            <a:ext cx="0" cy="18288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4005072"/>
            <a:ext cx="0" cy="18288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4919472"/>
            <a:ext cx="0" cy="18288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C4D"/>
                </a:solidFill>
              </a:rPr>
              <a:t>Data Strategy: Structured + Unstructured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56032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636E"/>
                </a:solidFill>
              </a:rPr>
              <a:t>Unified retrieval to answer mixed policy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94960" cy="3200400"/>
          </a:xfrm>
          <a:prstGeom prst="roundRect">
            <a:avLst/>
          </a:prstGeom>
          <a:solidFill>
            <a:srgbClr val="E8F1FC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Unstructured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5120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Inputs: PDF, DOCX, text policies
OCR/Extraction using Sarvam Document Intelligence
Chunking + metadata tagging
Retrieved as sourceChunks for grounded answers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303520" cy="3200400"/>
          </a:xfrm>
          <a:prstGeom prst="roundRect">
            <a:avLst/>
          </a:prstGeom>
          <a:solidFill>
            <a:srgbClr val="EAF6EE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Structured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50292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Inputs: CSV/JSON datasets
Row flattening and normalized search_text index
Stored as structured_records
Matched rows added as evidence sections in answer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C4D"/>
                </a:solidFill>
              </a:rPr>
              <a:t>Security, Governance, and Reliability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56032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636E"/>
                </a:solidFill>
              </a:rPr>
              <a:t>What the jury may ask about trust and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82C4D"/>
                </a:solidFill>
              </a:defRPr>
            </a:pPr>
            <a:r>
              <a:t>Role-based access control: admin upload restricted (`/api/documents/upload`).</a:t>
            </a:r>
          </a:p>
          <a:p>
            <a:pPr>
              <a:defRPr sz="2000">
                <a:solidFill>
                  <a:srgbClr val="182C4D"/>
                </a:solidFill>
              </a:defRPr>
            </a:pPr>
            <a:r>
              <a:t>Token-based authentication for protected APIs.</a:t>
            </a:r>
          </a:p>
          <a:p>
            <a:pPr>
              <a:defRPr sz="2000">
                <a:solidFill>
                  <a:srgbClr val="182C4D"/>
                </a:solidFill>
              </a:defRPr>
            </a:pPr>
            <a:r>
              <a:t>Feedback table + query logs create audit trail of behavior and quality signals.</a:t>
            </a:r>
          </a:p>
          <a:p>
            <a:pPr>
              <a:defRPr sz="2000">
                <a:solidFill>
                  <a:srgbClr val="182C4D"/>
                </a:solidFill>
              </a:defRPr>
            </a:pPr>
            <a:r>
              <a:t>Grounded-response pattern minimizes hallucination via source-backed retrieval.</a:t>
            </a:r>
          </a:p>
          <a:p>
            <a:pPr>
              <a:defRPr sz="2000">
                <a:solidFill>
                  <a:srgbClr val="182C4D"/>
                </a:solidFill>
              </a:defRPr>
            </a:pPr>
            <a:r>
              <a:t>Fallback mechanisms ensure graceful degradation when external AI services fail.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C4D"/>
                </a:solidFill>
              </a:rPr>
              <a:t>Deployment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56032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636E"/>
                </a:solidFill>
              </a:rPr>
              <a:t>Where and how Policy Sarthi will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E8F1FC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MVP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200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Single VM/Container
Frontend + Backend behind reverse proxy
Managed secrets for Sarvam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54480"/>
            <a:ext cx="3474720" cy="2194560"/>
          </a:xfrm>
          <a:prstGeom prst="roundRect">
            <a:avLst/>
          </a:prstGeom>
          <a:solidFill>
            <a:srgbClr val="EAF6EE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Preferred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3200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Azure / AWS / GCP
App service + managed DB + object storage
CI/CD via GitHub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54480"/>
            <a:ext cx="3108960" cy="2194560"/>
          </a:xfrm>
          <a:prstGeom prst="roundRect">
            <a:avLst/>
          </a:prstGeom>
          <a:solidFill>
            <a:srgbClr val="FFF4E8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64592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Hospital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34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VPN/private network
SSO with hospital IAM
Audit export to SIEM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2C4D"/>
                </a:solidFill>
              </a:defRPr>
            </a:pPr>
            <a:r>
              <a:t>Target environments: staging (UAT) -&gt; production with change approvals.</a:t>
            </a:r>
          </a:p>
          <a:p>
            <a:pPr>
              <a:defRPr sz="1400">
                <a:solidFill>
                  <a:srgbClr val="182C4D"/>
                </a:solidFill>
              </a:defRPr>
            </a:pPr>
            <a:r>
              <a:t>Secrets, logs, and backups managed through cloud-native 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C4D"/>
                </a:solidFill>
              </a:rPr>
              <a:t>Scalability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56032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636E"/>
                </a:solidFill>
              </a:rPr>
              <a:t>How we scale from pilot to enterprise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566160" cy="3291840"/>
          </a:xfrm>
          <a:prstGeom prst="roundRect">
            <a:avLst/>
          </a:prstGeom>
          <a:solidFill>
            <a:srgbClr val="E8F1FC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Phase 1 (Now)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2918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SQLite + local storage
Single service deployment
Hospital-level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54480"/>
            <a:ext cx="3566160" cy="3291840"/>
          </a:xfrm>
          <a:prstGeom prst="roundRect">
            <a:avLst/>
          </a:prstGeom>
          <a:solidFill>
            <a:srgbClr val="EAF6EE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32918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Postgres + Redis caching
Vector DB (Milvus/Pinecone)
Async workers for ingestion
Multi-hospital tenancy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54480"/>
            <a:ext cx="3108960" cy="3291840"/>
          </a:xfrm>
          <a:prstGeom prst="roundRect">
            <a:avLst/>
          </a:prstGeom>
          <a:solidFill>
            <a:srgbClr val="FFF4E8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64592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346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Horizontal autoscaling
Regional failover
Model routing + cost controls
SLA/SLO observability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C4D"/>
                </a:solidFill>
              </a:rPr>
              <a:t>Success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56032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636E"/>
                </a:solidFill>
              </a:rPr>
              <a:t>What we will measure post-deployment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566160" cy="2194560"/>
          </a:xfrm>
          <a:prstGeom prst="roundRect">
            <a:avLst/>
          </a:prstGeom>
          <a:solidFill>
            <a:srgbClr val="E8F1FC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Operational 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Avg response latency
Policy lookup time saved
Daily active staff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54480"/>
            <a:ext cx="3566160" cy="2194560"/>
          </a:xfrm>
          <a:prstGeom prst="roundRect">
            <a:avLst/>
          </a:prstGeom>
          <a:solidFill>
            <a:srgbClr val="EAF6EE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Quality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Grounded answer rate
Thumbs-up ratio
Claim rejection reduction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54480"/>
            <a:ext cx="3108960" cy="2194560"/>
          </a:xfrm>
          <a:prstGeom prst="roundRect">
            <a:avLst/>
          </a:prstGeom>
          <a:solidFill>
            <a:srgbClr val="FFF4E8"/>
          </a:solidFill>
          <a:ln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64592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82C4D"/>
                </a:solidFill>
              </a:rPr>
              <a:t>Reliability KPIs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34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82C4D"/>
                </a:solidFill>
              </a:rPr>
              <a:t>API uptime
Error rate
Fallback usage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2C4D"/>
                </a:solidFill>
              </a:defRPr>
            </a:pPr>
            <a:r>
              <a:t>Feedback loop is already implemented and directly influences retrieval ranking.</a:t>
            </a:r>
          </a:p>
          <a:p>
            <a:pPr>
              <a:defRPr sz="1400">
                <a:solidFill>
                  <a:srgbClr val="182C4D"/>
                </a:solidFill>
              </a:defRPr>
            </a:pPr>
            <a:r>
              <a:t>Next: automated evaluation set for regression testing before releases.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C4D"/>
                </a:solidFill>
              </a:rPr>
              <a:t>Jury Questions We Are Ready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56032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636E"/>
                </a:solidFill>
              </a:rPr>
              <a:t>Technical depth and product-readiness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82C4D"/>
                </a:solidFill>
              </a:defRPr>
            </a:pPr>
            <a:r>
              <a:t>How do you prevent hallucination? -&gt; Grounded retrieval + source evidence + no-info fallback.</a:t>
            </a:r>
          </a:p>
          <a:p>
            <a:pPr>
              <a:defRPr sz="1600">
                <a:solidFill>
                  <a:srgbClr val="182C4D"/>
                </a:solidFill>
              </a:defRPr>
            </a:pPr>
            <a:r>
              <a:t>How is multilingual handled? -&gt; Sarvam translation + language detection + voice STT/TTS.</a:t>
            </a:r>
          </a:p>
          <a:p>
            <a:pPr>
              <a:defRPr sz="1600">
                <a:solidFill>
                  <a:srgbClr val="182C4D"/>
                </a:solidFill>
              </a:defRPr>
            </a:pPr>
            <a:r>
              <a:t>How do you secure hospital data? -&gt; Auth, RBAC, controlled upload, audit logs.</a:t>
            </a:r>
          </a:p>
          <a:p>
            <a:pPr>
              <a:defRPr sz="1600">
                <a:solidFill>
                  <a:srgbClr val="182C4D"/>
                </a:solidFill>
              </a:defRPr>
            </a:pPr>
            <a:r>
              <a:t>How will this scale beyond one hospital? -&gt; DB upgrade, vector DB, async ingestion, multi-tenant architecture.</a:t>
            </a:r>
          </a:p>
          <a:p>
            <a:pPr>
              <a:defRPr sz="1600">
                <a:solidFill>
                  <a:srgbClr val="182C4D"/>
                </a:solidFill>
              </a:defRPr>
            </a:pPr>
            <a:r>
              <a:t>What is the ROI? -&gt; Faster claim processing, lower rejection, reduced policy lookup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C4D"/>
                </a:solidFill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56032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636E"/>
                </a:solidFill>
              </a:rPr>
              <a:t>Policy Sarthi AI: From static documents to real-time hospital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0332720" cy="1097280"/>
          </a:xfrm>
          <a:prstGeom prst="roundRect">
            <a:avLst/>
          </a:prstGeom>
          <a:solidFill>
            <a:srgbClr val="18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Demo Flow: Upload Policy -&gt; Ask in Any Language -&gt; Get Grounded Answer + Voice +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636E"/>
                </a:solidFill>
              </a:rPr>
              <a:t>Prepared for jury evaluation: architecture, APIs, governance, deployment, and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