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82C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182C4D"/>
                </a:solidFill>
              </a:rPr>
              <a:t>Policy Sarthi AI Agent</a:t>
            </a:r>
          </a:p>
          <a:p>
            <a:pPr>
              <a:defRPr sz="2000">
                <a:solidFill>
                  <a:srgbClr val="59636E"/>
                </a:solidFill>
              </a:defRPr>
            </a:pPr>
            <a:r>
              <a:t>Hospital Policy Intelligence + Ayushman Bharat Guidance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3977639"/>
            <a:ext cx="4754880" cy="68580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4178808"/>
            <a:ext cx="4297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FFFF"/>
                </a:solidFill>
              </a:rPr>
              <a:t>Jury Deck | Product + Architecture + Scale Plan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3611880"/>
            <a:ext cx="2011680" cy="1051560"/>
          </a:xfrm>
          <a:prstGeom prst="roundRect">
            <a:avLst/>
          </a:prstGeom>
          <a:solidFill>
            <a:srgbClr val="E8F1FC"/>
          </a:solidFill>
          <a:ln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3840480"/>
            <a:ext cx="1645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182C4D"/>
                </a:solidFill>
              </a:rPr>
              <a:t>Policy Docs
OCR + RAG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41080" y="3611880"/>
            <a:ext cx="1554480" cy="1051560"/>
          </a:xfrm>
          <a:prstGeom prst="roundRect">
            <a:avLst/>
          </a:prstGeom>
          <a:solidFill>
            <a:srgbClr val="EAF6EE"/>
          </a:solidFill>
          <a:ln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96528" y="3913632"/>
            <a:ext cx="1234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182C4D"/>
                </a:solidFill>
              </a:rPr>
              <a:t>Voice +
Multilingual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378440" y="3611880"/>
            <a:ext cx="1097280" cy="1051560"/>
          </a:xfrm>
          <a:prstGeom prst="roundRect">
            <a:avLst/>
          </a:prstGeom>
          <a:solidFill>
            <a:srgbClr val="FFF4E8"/>
          </a:solidFill>
          <a:ln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69880" y="3904487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182C4D"/>
                </a:solidFill>
              </a:rPr>
              <a:t>RBAC
Secure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983480"/>
            <a:ext cx="1092708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16636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565C0"/>
                </a:solidFill>
              </a:rPr>
              <a:t>Submitted by: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468112"/>
            <a:ext cx="104241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182C4D"/>
                </a:solidFill>
              </a:rPr>
              <a:t>Avanish Dubey | Ramlal Singh | Priyanshu Bhardwaj | Akash Kumar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82C4D"/>
                </a:solidFill>
              </a:rPr>
              <a:t>Problem Statement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32688"/>
            <a:ext cx="2560320" cy="6400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9636E"/>
                </a:solidFill>
              </a:rPr>
              <a:t>Why hospital teams need a policy intelligence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82C4D"/>
                </a:solidFill>
              </a:defRPr>
            </a:pPr>
            <a:r>
              <a:t>Hospital SOPs, circulars, billing policies, and claim rules are scattered across PDFs and folders.</a:t>
            </a:r>
          </a:p>
          <a:p>
            <a:pPr>
              <a:defRPr sz="2000">
                <a:solidFill>
                  <a:srgbClr val="182C4D"/>
                </a:solidFill>
              </a:defRPr>
            </a:pPr>
            <a:r>
              <a:t>Teams lose time in manual lookup during admission, discharge, and claim processing.</a:t>
            </a:r>
          </a:p>
          <a:p>
            <a:pPr>
              <a:defRPr sz="2000">
                <a:solidFill>
                  <a:srgbClr val="182C4D"/>
                </a:solidFill>
              </a:defRPr>
            </a:pPr>
            <a:r>
              <a:t>Incorrect or incomplete policy interpretation leads to rejection, delays, and compliance risk.</a:t>
            </a:r>
          </a:p>
          <a:p>
            <a:pPr>
              <a:defRPr sz="2000">
                <a:solidFill>
                  <a:srgbClr val="182C4D"/>
                </a:solidFill>
              </a:defRPr>
            </a:pPr>
            <a:r>
              <a:t>Staff needs multilingual support (text + voice) for real-time operations.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82C4D"/>
                </a:solidFill>
              </a:rPr>
              <a:t>Our Solution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32688"/>
            <a:ext cx="2560320" cy="6400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9636E"/>
                </a:solidFill>
              </a:rPr>
              <a:t>Policy Sarthi as a grounded, multilingual hospital operations copilot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08760"/>
            <a:ext cx="3566160" cy="2057400"/>
          </a:xfrm>
          <a:prstGeom prst="roundRect">
            <a:avLst/>
          </a:prstGeom>
          <a:solidFill>
            <a:srgbClr val="E8F1FC"/>
          </a:solidFill>
          <a:ln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3291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400">
                <a:solidFill>
                  <a:srgbClr val="182C4D"/>
                </a:solidFill>
              </a:rPr>
              <a:t>Ingest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20240"/>
            <a:ext cx="32918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82C4D"/>
                </a:solidFill>
              </a:rPr>
              <a:t>Admin uploads structured and unstructured policy data.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508760"/>
            <a:ext cx="3566160" cy="2057400"/>
          </a:xfrm>
          <a:prstGeom prst="roundRect">
            <a:avLst/>
          </a:prstGeom>
          <a:solidFill>
            <a:srgbClr val="EAF6EE"/>
          </a:solidFill>
          <a:ln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600200"/>
            <a:ext cx="3291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400">
                <a:solidFill>
                  <a:srgbClr val="182C4D"/>
                </a:solidFill>
              </a:rPr>
              <a:t>Understand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1920240"/>
            <a:ext cx="32918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82C4D"/>
                </a:solidFill>
              </a:rPr>
              <a:t>RAG + language + workflow context build grounded responses.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66760" y="1508760"/>
            <a:ext cx="3063240" cy="2057400"/>
          </a:xfrm>
          <a:prstGeom prst="roundRect">
            <a:avLst/>
          </a:prstGeom>
          <a:solidFill>
            <a:srgbClr val="FFF4E8"/>
          </a:solidFill>
          <a:ln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0" y="1600200"/>
            <a:ext cx="2788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400">
                <a:solidFill>
                  <a:srgbClr val="182C4D"/>
                </a:solidFill>
              </a:rPr>
              <a:t>Assist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1920240"/>
            <a:ext cx="2788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82C4D"/>
                </a:solidFill>
              </a:rPr>
              <a:t>Text + voice answers with source-backed guidance.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977639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82C4D"/>
                </a:solidFill>
              </a:defRPr>
            </a:pPr>
            <a:r>
              <a:t>Role-based controls: only admin can upload policies.</a:t>
            </a:r>
          </a:p>
          <a:p>
            <a:pPr>
              <a:defRPr sz="1600">
                <a:solidFill>
                  <a:srgbClr val="182C4D"/>
                </a:solidFill>
              </a:defRPr>
            </a:pPr>
            <a:r>
              <a:t>Feedback loop: thumbs up/down with correction capture.</a:t>
            </a:r>
          </a:p>
          <a:p>
            <a:pPr>
              <a:defRPr sz="1600">
                <a:solidFill>
                  <a:srgbClr val="182C4D"/>
                </a:solidFill>
              </a:defRPr>
            </a:pPr>
            <a:r>
              <a:t>Designed for staff productivity, claim quality, and audit readiness.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82C4D"/>
                </a:solidFill>
              </a:rPr>
              <a:t>Sarvam API Usage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32688"/>
            <a:ext cx="2560320" cy="6400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9636E"/>
                </a:solidFill>
              </a:rPr>
              <a:t>Current integration footprint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25880"/>
            <a:ext cx="2194560" cy="91440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536192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5 APIs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54680" y="1325880"/>
            <a:ext cx="2651760" cy="1508760"/>
          </a:xfrm>
          <a:prstGeom prst="roundRect">
            <a:avLst/>
          </a:prstGeom>
          <a:solidFill>
            <a:srgbClr val="E8F1FC"/>
          </a:solidFill>
          <a:ln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1840" y="1417320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400">
                <a:solidFill>
                  <a:srgbClr val="182C4D"/>
                </a:solidFill>
              </a:rPr>
              <a:t>1) Chat Completion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173736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82C4D"/>
                </a:solidFill>
              </a:rPr>
              <a:t>Answer generation over retrieved context.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89320" y="1325880"/>
            <a:ext cx="2651760" cy="1508760"/>
          </a:xfrm>
          <a:prstGeom prst="roundRect">
            <a:avLst/>
          </a:prstGeom>
          <a:solidFill>
            <a:srgbClr val="EAF6EE"/>
          </a:solidFill>
          <a:ln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1417320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400">
                <a:solidFill>
                  <a:srgbClr val="182C4D"/>
                </a:solidFill>
              </a:rPr>
              <a:t>2) Translation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73736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82C4D"/>
                </a:solidFill>
              </a:rPr>
              <a:t>Non-English query/response handling.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23960" y="1325880"/>
            <a:ext cx="2651760" cy="1508760"/>
          </a:xfrm>
          <a:prstGeom prst="roundRect">
            <a:avLst/>
          </a:prstGeom>
          <a:solidFill>
            <a:srgbClr val="FFF4E8"/>
          </a:solidFill>
          <a:ln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0" y="1417320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400">
                <a:solidFill>
                  <a:srgbClr val="182C4D"/>
                </a:solidFill>
              </a:rPr>
              <a:t>3) Speech-to-Text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173736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82C4D"/>
                </a:solidFill>
              </a:rPr>
              <a:t>Voice query transcription.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54680" y="3063240"/>
            <a:ext cx="2651760" cy="1508760"/>
          </a:xfrm>
          <a:prstGeom prst="roundRect">
            <a:avLst/>
          </a:prstGeom>
          <a:solidFill>
            <a:srgbClr val="FFF4E8"/>
          </a:solidFill>
          <a:ln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91840" y="3154680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400">
                <a:solidFill>
                  <a:srgbClr val="182C4D"/>
                </a:solidFill>
              </a:rPr>
              <a:t>4) Text-to-Speech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347472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82C4D"/>
                </a:solidFill>
              </a:rPr>
              <a:t>Voice response playback.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89320" y="3063240"/>
            <a:ext cx="2651760" cy="1508760"/>
          </a:xfrm>
          <a:prstGeom prst="roundRect">
            <a:avLst/>
          </a:prstGeom>
          <a:solidFill>
            <a:srgbClr val="E8F1FC"/>
          </a:solidFill>
          <a:ln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3154680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400">
                <a:solidFill>
                  <a:srgbClr val="182C4D"/>
                </a:solidFill>
              </a:rPr>
              <a:t>5) Document Intelligence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347472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82C4D"/>
                </a:solidFill>
              </a:rPr>
              <a:t>OCR/text extraction from uploads.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8920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2C4D"/>
                </a:solidFill>
              </a:defRPr>
            </a:pPr>
            <a:r>
              <a:t>Sarvam APIs are orchestrated in backend service layer (`sarvam_client.py`).</a:t>
            </a:r>
          </a:p>
          <a:p>
            <a:pPr>
              <a:defRPr sz="1400">
                <a:solidFill>
                  <a:srgbClr val="182C4D"/>
                </a:solidFill>
              </a:defRPr>
            </a:pPr>
            <a:r>
              <a:t>Fallback paths exist when external API is unavailable.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82C4D"/>
                </a:solidFill>
              </a:rPr>
              <a:t>End-to-End Workflow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32688"/>
            <a:ext cx="2560320" cy="6400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9636E"/>
                </a:solidFill>
              </a:rPr>
              <a:t>From upload to grounded multilingual answer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1828800" cy="914400"/>
          </a:xfrm>
          <a:prstGeom prst="roundRect">
            <a:avLst/>
          </a:prstGeom>
          <a:solidFill>
            <a:srgbClr val="E8F1FC"/>
          </a:solidFill>
          <a:ln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139696"/>
            <a:ext cx="1609344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182C4D"/>
                </a:solidFill>
              </a:rPr>
              <a:t>Admin Upload
(PDF/CSV/JSON)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2011680"/>
            <a:ext cx="1828800" cy="914400"/>
          </a:xfrm>
          <a:prstGeom prst="roundRect">
            <a:avLst/>
          </a:prstGeom>
          <a:solidFill>
            <a:srgbClr val="EAF6EE"/>
          </a:solidFill>
          <a:ln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61488" y="2139696"/>
            <a:ext cx="1609344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182C4D"/>
                </a:solidFill>
              </a:rPr>
              <a:t>Extraction +
Chunking/Indexing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2011680"/>
            <a:ext cx="1828800" cy="914400"/>
          </a:xfrm>
          <a:prstGeom prst="roundRect">
            <a:avLst/>
          </a:prstGeom>
          <a:solidFill>
            <a:srgbClr val="FFF4E8"/>
          </a:solidFill>
          <a:ln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64608" y="2139696"/>
            <a:ext cx="1609344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182C4D"/>
                </a:solidFill>
              </a:rPr>
              <a:t>User Query
(Text/Voice)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2011680"/>
            <a:ext cx="1828800" cy="914400"/>
          </a:xfrm>
          <a:prstGeom prst="roundRect">
            <a:avLst/>
          </a:prstGeom>
          <a:solidFill>
            <a:srgbClr val="E8F1FC"/>
          </a:solidFill>
          <a:ln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67728" y="2139696"/>
            <a:ext cx="1609344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182C4D"/>
                </a:solidFill>
              </a:rPr>
              <a:t>Retrieve +
Ground Answer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2011680"/>
            <a:ext cx="2651760" cy="914400"/>
          </a:xfrm>
          <a:prstGeom prst="roundRect">
            <a:avLst/>
          </a:prstGeom>
          <a:solidFill>
            <a:srgbClr val="EAF6EE"/>
          </a:solidFill>
          <a:ln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70848" y="2139696"/>
            <a:ext cx="2432304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182C4D"/>
                </a:solidFill>
              </a:rPr>
              <a:t>Response + Citation
+ Optional Voice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377440" y="2468880"/>
            <a:ext cx="274320" cy="0"/>
          </a:xfrm>
          <a:prstGeom prst="line">
            <a:avLst/>
          </a:prstGeom>
          <a:ln w="25400">
            <a:solidFill>
              <a:srgbClr val="0089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480560" y="2468880"/>
            <a:ext cx="274320" cy="0"/>
          </a:xfrm>
          <a:prstGeom prst="line">
            <a:avLst/>
          </a:prstGeom>
          <a:ln w="25400">
            <a:solidFill>
              <a:srgbClr val="0089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583680" y="2468880"/>
            <a:ext cx="274320" cy="0"/>
          </a:xfrm>
          <a:prstGeom prst="line">
            <a:avLst/>
          </a:prstGeom>
          <a:ln w="25400">
            <a:solidFill>
              <a:srgbClr val="0089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6800" y="2468880"/>
            <a:ext cx="274320" cy="0"/>
          </a:xfrm>
          <a:prstGeom prst="line">
            <a:avLst/>
          </a:prstGeom>
          <a:ln w="25400">
            <a:solidFill>
              <a:srgbClr val="0089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31520" y="379476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2C4D"/>
                </a:solidFill>
              </a:defRPr>
            </a:pPr>
            <a:r>
              <a:t>Structured data (CSV/JSON) is flattened and indexed as searchable rows.</a:t>
            </a:r>
          </a:p>
          <a:p>
            <a:pPr>
              <a:defRPr sz="1400">
                <a:solidFill>
                  <a:srgbClr val="182C4D"/>
                </a:solidFill>
              </a:defRPr>
            </a:pPr>
            <a:r>
              <a:t>Unstructured data (SOPs/PDFs) is chunked for retrieval evidence.</a:t>
            </a:r>
          </a:p>
          <a:p>
            <a:pPr>
              <a:defRPr sz="1400">
                <a:solidFill>
                  <a:srgbClr val="182C4D"/>
                </a:solidFill>
              </a:defRPr>
            </a:pPr>
            <a:r>
              <a:t>Feedback signal updates future retrieval ranking.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82C4D"/>
                </a:solidFill>
              </a:rPr>
              <a:t>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32688"/>
            <a:ext cx="2560320" cy="6400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9636E"/>
                </a:solidFill>
              </a:rPr>
              <a:t>Production-aligned layered design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1463040"/>
            <a:ext cx="9966960" cy="713232"/>
          </a:xfrm>
          <a:prstGeom prst="roundRect">
            <a:avLst/>
          </a:prstGeom>
          <a:solidFill>
            <a:srgbClr val="E8F1FC"/>
          </a:solidFill>
          <a:ln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7" y="1591056"/>
            <a:ext cx="9747504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182C4D"/>
                </a:solidFill>
              </a:rPr>
              <a:t>Presentation Layer: Streamlit UI (chat, voice input, admin upload, feedback)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2377440"/>
            <a:ext cx="9966960" cy="713232"/>
          </a:xfrm>
          <a:prstGeom prst="roundRect">
            <a:avLst/>
          </a:prstGeom>
          <a:solidFill>
            <a:srgbClr val="EAF6EE"/>
          </a:solidFill>
          <a:ln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7007" y="2505456"/>
            <a:ext cx="9747504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182C4D"/>
                </a:solidFill>
              </a:rPr>
              <a:t>Application Layer: Flask APIs, AuthN/AuthZ, Routing, Validation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3291840"/>
            <a:ext cx="9966960" cy="713232"/>
          </a:xfrm>
          <a:prstGeom prst="roundRect">
            <a:avLst/>
          </a:prstGeom>
          <a:solidFill>
            <a:srgbClr val="FFF4E8"/>
          </a:solidFill>
          <a:ln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7" y="3419856"/>
            <a:ext cx="9747504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182C4D"/>
                </a:solidFill>
              </a:rPr>
              <a:t>AI Layer: RAG Orchestrator, Sarvam Client, Language Handling, Prompt Composer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4206240"/>
            <a:ext cx="9966960" cy="713232"/>
          </a:xfrm>
          <a:prstGeom prst="roundRect">
            <a:avLst/>
          </a:prstGeom>
          <a:solidFill>
            <a:srgbClr val="E8F1FC"/>
          </a:solidFill>
          <a:ln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07007" y="4334255"/>
            <a:ext cx="9747504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182C4D"/>
                </a:solidFill>
              </a:rPr>
              <a:t>Data Layer: SQLite (users/docs/chunks/feedback/structured rows) + File Storage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97280" y="5120640"/>
            <a:ext cx="9966960" cy="713232"/>
          </a:xfrm>
          <a:prstGeom prst="roundRect">
            <a:avLst/>
          </a:prstGeom>
          <a:solidFill>
            <a:srgbClr val="EAF6EE"/>
          </a:solidFill>
          <a:ln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7" y="5248655"/>
            <a:ext cx="9747504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182C4D"/>
                </a:solidFill>
              </a:rPr>
              <a:t>External Layer: Sarvam APIs + future vector DB + observability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80760" y="2176272"/>
            <a:ext cx="0" cy="182880"/>
          </a:xfrm>
          <a:prstGeom prst="line">
            <a:avLst/>
          </a:prstGeom>
          <a:ln w="25400">
            <a:solidFill>
              <a:srgbClr val="0089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080760" y="3090672"/>
            <a:ext cx="0" cy="182880"/>
          </a:xfrm>
          <a:prstGeom prst="line">
            <a:avLst/>
          </a:prstGeom>
          <a:ln w="25400">
            <a:solidFill>
              <a:srgbClr val="0089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080760" y="4005072"/>
            <a:ext cx="0" cy="182880"/>
          </a:xfrm>
          <a:prstGeom prst="line">
            <a:avLst/>
          </a:prstGeom>
          <a:ln w="25400">
            <a:solidFill>
              <a:srgbClr val="0089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080760" y="4919472"/>
            <a:ext cx="0" cy="182880"/>
          </a:xfrm>
          <a:prstGeom prst="line">
            <a:avLst/>
          </a:prstGeom>
          <a:ln w="25400">
            <a:solidFill>
              <a:srgbClr val="0089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82C4D"/>
                </a:solidFill>
              </a:rPr>
              <a:t>Data Strategy: Structured + Unstructured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32688"/>
            <a:ext cx="2560320" cy="6400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9636E"/>
                </a:solidFill>
              </a:rPr>
              <a:t>Unified retrieval to answer mixed policy questions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394960" cy="3200400"/>
          </a:xfrm>
          <a:prstGeom prst="roundRect">
            <a:avLst/>
          </a:prstGeom>
          <a:solidFill>
            <a:srgbClr val="E8F1FC"/>
          </a:solidFill>
          <a:ln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5120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400">
                <a:solidFill>
                  <a:srgbClr val="182C4D"/>
                </a:solidFill>
              </a:rPr>
              <a:t>Unstructured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65960"/>
            <a:ext cx="512064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82C4D"/>
                </a:solidFill>
              </a:rPr>
              <a:t>Inputs: PDF, DOCX, text policies
OCR/Extraction using Sarvam Document Intelligence
Chunking + metadata tagging
Retrieved as sourceChunks for grounded answers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554480"/>
            <a:ext cx="5303520" cy="3200400"/>
          </a:xfrm>
          <a:prstGeom prst="roundRect">
            <a:avLst/>
          </a:prstGeom>
          <a:solidFill>
            <a:srgbClr val="EAF6EE"/>
          </a:solidFill>
          <a:ln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64592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400">
                <a:solidFill>
                  <a:srgbClr val="182C4D"/>
                </a:solidFill>
              </a:rPr>
              <a:t>Structured 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965960"/>
            <a:ext cx="50292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82C4D"/>
                </a:solidFill>
              </a:rPr>
              <a:t>Inputs: CSV/JSON datasets
Row flattening and normalized search_text index
Stored as structured_records
Matched rows added as evidence sections in answer context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82C4D"/>
                </a:solidFill>
              </a:rPr>
              <a:t>Security, Governance, and Reliability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32688"/>
            <a:ext cx="2560320" cy="6400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9636E"/>
                </a:solidFill>
              </a:rPr>
              <a:t>What the jury may ask about trust and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82C4D"/>
                </a:solidFill>
              </a:defRPr>
            </a:pPr>
            <a:r>
              <a:t>Role-based access control: admin upload restricted (`/api/documents/upload`).</a:t>
            </a:r>
          </a:p>
          <a:p>
            <a:pPr>
              <a:defRPr sz="2000">
                <a:solidFill>
                  <a:srgbClr val="182C4D"/>
                </a:solidFill>
              </a:defRPr>
            </a:pPr>
            <a:r>
              <a:t>Token-based authentication for protected APIs.</a:t>
            </a:r>
          </a:p>
          <a:p>
            <a:pPr>
              <a:defRPr sz="2000">
                <a:solidFill>
                  <a:srgbClr val="182C4D"/>
                </a:solidFill>
              </a:defRPr>
            </a:pPr>
            <a:r>
              <a:t>Feedback table + query logs create audit trail of behavior and quality signals.</a:t>
            </a:r>
          </a:p>
          <a:p>
            <a:pPr>
              <a:defRPr sz="2000">
                <a:solidFill>
                  <a:srgbClr val="182C4D"/>
                </a:solidFill>
              </a:defRPr>
            </a:pPr>
            <a:r>
              <a:t>Grounded-response pattern minimizes hallucination via source-backed retrieval.</a:t>
            </a:r>
          </a:p>
          <a:p>
            <a:pPr>
              <a:defRPr sz="2000">
                <a:solidFill>
                  <a:srgbClr val="182C4D"/>
                </a:solidFill>
              </a:defRPr>
            </a:pPr>
            <a:r>
              <a:t>Fallback mechanisms ensure graceful degradation when external AI services fail.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82C4D"/>
                </a:solidFill>
              </a:rPr>
              <a:t>Guardrails: Sensitivity Labels + Access Fallback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32688"/>
            <a:ext cx="2560320" cy="6400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9636E"/>
                </a:solidFill>
              </a:rPr>
              <a:t>Explicit data control per role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2560320"/>
          </a:xfrm>
          <a:prstGeom prst="roundRect">
            <a:avLst/>
          </a:prstGeom>
          <a:solidFill>
            <a:srgbClr val="E8F1FC"/>
          </a:solidFill>
          <a:ln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4937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400">
                <a:solidFill>
                  <a:srgbClr val="182C4D"/>
                </a:solidFill>
              </a:rPr>
              <a:t>Sensitivity Labels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65960"/>
            <a:ext cx="49377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82C4D"/>
                </a:solidFill>
              </a:rPr>
              <a:t>public -&gt; admin/staff/auditor/user
internal -&gt; admin/staff/auditor
confidential -&gt; admin/staff
restricted -&gt; admin only
Admin selects label at upload time.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554480"/>
            <a:ext cx="5257800" cy="2560320"/>
          </a:xfrm>
          <a:prstGeom prst="roundRect">
            <a:avLst/>
          </a:prstGeom>
          <a:solidFill>
            <a:srgbClr val="FFF4E8"/>
          </a:solidFill>
          <a:ln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645920"/>
            <a:ext cx="4983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400">
                <a:solidFill>
                  <a:srgbClr val="182C4D"/>
                </a:solidFill>
              </a:rPr>
              <a:t>Unauthorized Access Handling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965960"/>
            <a:ext cx="498348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82C4D"/>
                </a:solidFill>
              </a:rPr>
              <a:t>If a query matches only restricted documents outside the user role, the assistant does NOT expose content.
Fallback response:
'Information exists, but your role is not authorized for this sensitivity level. Please contact admin.'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4805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2C4D"/>
                </a:solidFill>
              </a:defRPr>
            </a:pPr>
            <a:r>
              <a:t>This avoids accidental leakage while keeping staff/admin productivity for permitted data.</a:t>
            </a:r>
          </a:p>
          <a:p>
            <a:pPr>
              <a:defRPr sz="1400">
                <a:solidFill>
                  <a:srgbClr val="182C4D"/>
                </a:solidFill>
              </a:defRPr>
            </a:pPr>
            <a:r>
              <a:t>Guardrail decision happens before final answer generation.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82C4D"/>
                </a:solidFill>
              </a:rPr>
              <a:t>Deployment Plan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32688"/>
            <a:ext cx="2560320" cy="6400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9636E"/>
                </a:solidFill>
              </a:rPr>
              <a:t>Where and how Policy Sarthi will run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474720" cy="2194560"/>
          </a:xfrm>
          <a:prstGeom prst="roundRect">
            <a:avLst/>
          </a:prstGeom>
          <a:solidFill>
            <a:srgbClr val="E8F1FC"/>
          </a:solidFill>
          <a:ln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400">
                <a:solidFill>
                  <a:srgbClr val="182C4D"/>
                </a:solidFill>
              </a:rPr>
              <a:t>MVP Deployment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65960"/>
            <a:ext cx="32004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82C4D"/>
                </a:solidFill>
              </a:rPr>
              <a:t>Single VM/Container
Frontend + Backend behind reverse proxy
Managed secrets for Sarvam key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554480"/>
            <a:ext cx="3474720" cy="2194560"/>
          </a:xfrm>
          <a:prstGeom prst="roundRect">
            <a:avLst/>
          </a:prstGeom>
          <a:solidFill>
            <a:srgbClr val="EAF6EE"/>
          </a:solidFill>
          <a:ln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64592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400">
                <a:solidFill>
                  <a:srgbClr val="182C4D"/>
                </a:solidFill>
              </a:rPr>
              <a:t>Preferred Cloud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1965960"/>
            <a:ext cx="32004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82C4D"/>
                </a:solidFill>
              </a:rPr>
              <a:t>Azure / AWS / GCP
App service + managed DB + object storage
CI/CD via GitHub Actions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21040" y="1554480"/>
            <a:ext cx="3108960" cy="2194560"/>
          </a:xfrm>
          <a:prstGeom prst="roundRect">
            <a:avLst/>
          </a:prstGeom>
          <a:solidFill>
            <a:srgbClr val="FFF4E8"/>
          </a:solidFill>
          <a:ln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58200" y="1645920"/>
            <a:ext cx="2834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400">
                <a:solidFill>
                  <a:srgbClr val="182C4D"/>
                </a:solidFill>
              </a:rPr>
              <a:t>Hospital Integration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1965960"/>
            <a:ext cx="28346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82C4D"/>
                </a:solidFill>
              </a:rPr>
              <a:t>VPN/private network
SSO with hospital IAM
Audit export to SIEM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06908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2C4D"/>
                </a:solidFill>
              </a:defRPr>
            </a:pPr>
            <a:r>
              <a:t>Target environments: staging (UAT) -&gt; production with change approvals.</a:t>
            </a:r>
          </a:p>
          <a:p>
            <a:pPr>
              <a:defRPr sz="1400">
                <a:solidFill>
                  <a:srgbClr val="182C4D"/>
                </a:solidFill>
              </a:defRPr>
            </a:pPr>
            <a:r>
              <a:t>Secrets, logs, and backups managed through cloud-native services.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82C4D"/>
                </a:solidFill>
              </a:rPr>
              <a:t>Scalability 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32688"/>
            <a:ext cx="2560320" cy="6400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9636E"/>
                </a:solidFill>
              </a:rPr>
              <a:t>How we scale from pilot to enterprise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566160" cy="3291840"/>
          </a:xfrm>
          <a:prstGeom prst="roundRect">
            <a:avLst/>
          </a:prstGeom>
          <a:solidFill>
            <a:srgbClr val="E8F1FC"/>
          </a:solidFill>
          <a:ln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3291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400">
                <a:solidFill>
                  <a:srgbClr val="182C4D"/>
                </a:solidFill>
              </a:rPr>
              <a:t>Phase 1 (Now)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65960"/>
            <a:ext cx="329184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82C4D"/>
                </a:solidFill>
              </a:rPr>
              <a:t>SQLite + local storage
Single service deployment
Hospital-level pilot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554480"/>
            <a:ext cx="3566160" cy="3291840"/>
          </a:xfrm>
          <a:prstGeom prst="roundRect">
            <a:avLst/>
          </a:prstGeom>
          <a:solidFill>
            <a:srgbClr val="EAF6EE"/>
          </a:solidFill>
          <a:ln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645920"/>
            <a:ext cx="3291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400">
                <a:solidFill>
                  <a:srgbClr val="182C4D"/>
                </a:solidFill>
              </a:rPr>
              <a:t>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1965960"/>
            <a:ext cx="329184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82C4D"/>
                </a:solidFill>
              </a:rPr>
              <a:t>Postgres + Redis caching
Vector DB (Milvus/Pinecone)
Async workers for ingestion
Multi-hospital tenancy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21040" y="1554480"/>
            <a:ext cx="3108960" cy="3291840"/>
          </a:xfrm>
          <a:prstGeom prst="roundRect">
            <a:avLst/>
          </a:prstGeom>
          <a:solidFill>
            <a:srgbClr val="FFF4E8"/>
          </a:solidFill>
          <a:ln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58200" y="1645920"/>
            <a:ext cx="2834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400">
                <a:solidFill>
                  <a:srgbClr val="182C4D"/>
                </a:solidFill>
              </a:rPr>
              <a:t>Phase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1965960"/>
            <a:ext cx="283464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82C4D"/>
                </a:solidFill>
              </a:rPr>
              <a:t>Horizontal autoscaling
Regional failover
Model routing + cost controls
SLA/SLO observability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82C4D"/>
                </a:solidFill>
              </a:rPr>
              <a:t>Success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32688"/>
            <a:ext cx="2560320" cy="6400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9636E"/>
                </a:solidFill>
              </a:rPr>
              <a:t>What we will measure post-deployment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566160" cy="2194560"/>
          </a:xfrm>
          <a:prstGeom prst="roundRect">
            <a:avLst/>
          </a:prstGeom>
          <a:solidFill>
            <a:srgbClr val="E8F1FC"/>
          </a:solidFill>
          <a:ln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3291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400">
                <a:solidFill>
                  <a:srgbClr val="182C4D"/>
                </a:solidFill>
              </a:rPr>
              <a:t>Operational KPIs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65960"/>
            <a:ext cx="32918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82C4D"/>
                </a:solidFill>
              </a:rPr>
              <a:t>Avg response latency
Policy lookup time saved
Daily active staff users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554480"/>
            <a:ext cx="3566160" cy="2194560"/>
          </a:xfrm>
          <a:prstGeom prst="roundRect">
            <a:avLst/>
          </a:prstGeom>
          <a:solidFill>
            <a:srgbClr val="EAF6EE"/>
          </a:solidFill>
          <a:ln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645920"/>
            <a:ext cx="3291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400">
                <a:solidFill>
                  <a:srgbClr val="182C4D"/>
                </a:solidFill>
              </a:rPr>
              <a:t>Quality KPIs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1965960"/>
            <a:ext cx="32918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82C4D"/>
                </a:solidFill>
              </a:rPr>
              <a:t>Grounded answer rate
Thumbs-up ratio
Claim rejection reduction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21040" y="1554480"/>
            <a:ext cx="3108960" cy="2194560"/>
          </a:xfrm>
          <a:prstGeom prst="roundRect">
            <a:avLst/>
          </a:prstGeom>
          <a:solidFill>
            <a:srgbClr val="FFF4E8"/>
          </a:solidFill>
          <a:ln>
            <a:solidFill>
              <a:srgbClr val="D6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58200" y="1645920"/>
            <a:ext cx="2834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400">
                <a:solidFill>
                  <a:srgbClr val="182C4D"/>
                </a:solidFill>
              </a:rPr>
              <a:t>Reliability KPIs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1965960"/>
            <a:ext cx="28346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82C4D"/>
                </a:solidFill>
              </a:rPr>
              <a:t>API uptime
Error rate
Fallback usage rate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0690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2C4D"/>
                </a:solidFill>
              </a:defRPr>
            </a:pPr>
            <a:r>
              <a:t>Feedback loop is already implemented and directly influences retrieval ranking.</a:t>
            </a:r>
          </a:p>
          <a:p>
            <a:pPr>
              <a:defRPr sz="1400">
                <a:solidFill>
                  <a:srgbClr val="182C4D"/>
                </a:solidFill>
              </a:defRPr>
            </a:pPr>
            <a:r>
              <a:t>Next: automated evaluation set for regression testing before releases.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82C4D"/>
                </a:solidFill>
              </a:rPr>
              <a:t>Jury Questions We Are Ready For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32688"/>
            <a:ext cx="2560320" cy="6400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9636E"/>
                </a:solidFill>
              </a:rPr>
              <a:t>Technical depth and product-readiness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82C4D"/>
                </a:solidFill>
              </a:defRPr>
            </a:pPr>
            <a:r>
              <a:t>How do you prevent hallucination? -&gt; Grounded retrieval + source evidence + no-info fallback.</a:t>
            </a:r>
          </a:p>
          <a:p>
            <a:pPr>
              <a:defRPr sz="1600">
                <a:solidFill>
                  <a:srgbClr val="182C4D"/>
                </a:solidFill>
              </a:defRPr>
            </a:pPr>
            <a:r>
              <a:t>How is multilingual handled? -&gt; Sarvam translation + language detection + voice STT/TTS.</a:t>
            </a:r>
          </a:p>
          <a:p>
            <a:pPr>
              <a:defRPr sz="1600">
                <a:solidFill>
                  <a:srgbClr val="182C4D"/>
                </a:solidFill>
              </a:defRPr>
            </a:pPr>
            <a:r>
              <a:t>How do you secure hospital data? -&gt; Auth, RBAC, controlled upload, audit logs.</a:t>
            </a:r>
          </a:p>
          <a:p>
            <a:pPr>
              <a:defRPr sz="1600">
                <a:solidFill>
                  <a:srgbClr val="182C4D"/>
                </a:solidFill>
              </a:defRPr>
            </a:pPr>
            <a:r>
              <a:t>How will this scale beyond one hospital? -&gt; DB upgrade, vector DB, async ingestion, multi-tenant architecture.</a:t>
            </a:r>
          </a:p>
          <a:p>
            <a:pPr>
              <a:defRPr sz="1600">
                <a:solidFill>
                  <a:srgbClr val="182C4D"/>
                </a:solidFill>
              </a:defRPr>
            </a:pPr>
            <a:r>
              <a:t>What is the ROI? -&gt; Faster claim processing, lower rejection, reduced policy lookup time.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82C4D"/>
                </a:solidFill>
              </a:rP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32688"/>
            <a:ext cx="2560320" cy="6400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9636E"/>
                </a:solidFill>
              </a:rPr>
              <a:t>Policy Sarthi AI: From static documents to real-time hospital intelligence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011680"/>
            <a:ext cx="10332720" cy="1097280"/>
          </a:xfrm>
          <a:prstGeom prst="roundRect">
            <a:avLst/>
          </a:prstGeom>
          <a:solidFill>
            <a:srgbClr val="182C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</a:rPr>
              <a:t>Demo Flow: Upload Policy -&gt; Ask in Any Language -&gt; Get Grounded Answer + Voice + Feedback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9636E"/>
                </a:solidFill>
              </a:rPr>
              <a:t>Prepared for jury evaluation: architecture, APIs, governance, deployment, and scale.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