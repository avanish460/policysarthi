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143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17320"/>
            <a:ext cx="10789920" cy="1097280"/>
          </a:xfrm>
          <a:prstGeom prst="rect">
            <a:avLst/>
          </a:prstGeom>
          <a:noFill/>
        </p:spPr>
        <p:txBody>
          <a:bodyPr wrap="none">
            <a:spAutoFit/>
          </a:bodyPr>
          <a:lstStyle/>
          <a:p>
            <a:r>
              <a:rPr b="1" sz="2700">
                <a:solidFill>
                  <a:srgbClr val="143D59"/>
                </a:solidFill>
              </a:rPr>
              <a:t>AI-Powered Multilingual Hospital Policy &amp; Ayushman Claim Assistant</a:t>
            </a:r>
          </a:p>
        </p:txBody>
      </p:sp>
      <p:sp>
        <p:nvSpPr>
          <p:cNvPr id="4" name="TextBox 3"/>
          <p:cNvSpPr txBox="1"/>
          <p:nvPr/>
        </p:nvSpPr>
        <p:spPr>
          <a:xfrm>
            <a:off x="594360" y="2514600"/>
            <a:ext cx="10241280" cy="548640"/>
          </a:xfrm>
          <a:prstGeom prst="rect">
            <a:avLst/>
          </a:prstGeom>
          <a:noFill/>
        </p:spPr>
        <p:txBody>
          <a:bodyPr wrap="none">
            <a:spAutoFit/>
          </a:bodyPr>
          <a:lstStyle/>
          <a:p>
            <a:r>
              <a:rPr sz="1800">
                <a:solidFill>
                  <a:srgbClr val="5C6570"/>
                </a:solidFill>
              </a:rPr>
              <a:t>Enabling faster policy access, accurate insurance guidance, and multilingual support for hospital staff</a:t>
            </a:r>
          </a:p>
        </p:txBody>
      </p:sp>
      <p:sp>
        <p:nvSpPr>
          <p:cNvPr id="5" name="Rounded Rectangle 4"/>
          <p:cNvSpPr/>
          <p:nvPr/>
        </p:nvSpPr>
        <p:spPr>
          <a:xfrm>
            <a:off x="594360" y="3657600"/>
            <a:ext cx="3474720" cy="594360"/>
          </a:xfrm>
          <a:prstGeom prst="round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3803904"/>
            <a:ext cx="2926080" cy="274320"/>
          </a:xfrm>
          <a:prstGeom prst="rect">
            <a:avLst/>
          </a:prstGeom>
          <a:noFill/>
        </p:spPr>
        <p:txBody>
          <a:bodyPr wrap="none">
            <a:spAutoFit/>
          </a:bodyPr>
          <a:lstStyle/>
          <a:p>
            <a:r>
              <a:rPr sz="1300" b="1">
                <a:solidFill>
                  <a:srgbClr val="FFFFFF"/>
                </a:solidFill>
              </a:rPr>
              <a:t>Built for document-heavy hospital workflows</a:t>
            </a:r>
          </a:p>
        </p:txBody>
      </p:sp>
      <p:sp>
        <p:nvSpPr>
          <p:cNvPr id="7" name="TextBox 6"/>
          <p:cNvSpPr txBox="1"/>
          <p:nvPr/>
        </p:nvSpPr>
        <p:spPr>
          <a:xfrm>
            <a:off x="640080" y="5852160"/>
            <a:ext cx="5029200" cy="457200"/>
          </a:xfrm>
          <a:prstGeom prst="rect">
            <a:avLst/>
          </a:prstGeom>
          <a:noFill/>
        </p:spPr>
        <p:txBody>
          <a:bodyPr wrap="none">
            <a:spAutoFit/>
          </a:bodyPr>
          <a:lstStyle/>
          <a:p>
            <a:r>
              <a:rPr sz="1300">
                <a:solidFill>
                  <a:srgbClr val="5C6570"/>
                </a:solidFill>
              </a:rPr>
              <a:t>Team Name | Member Names | Hackathon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155680" cy="640080"/>
          </a:xfrm>
          <a:prstGeom prst="rect">
            <a:avLst/>
          </a:prstGeom>
          <a:noFill/>
        </p:spPr>
        <p:txBody>
          <a:bodyPr wrap="none">
            <a:spAutoFit/>
          </a:bodyPr>
          <a:lstStyle/>
          <a:p>
            <a:pPr algn="l"/>
            <a:r>
              <a:rPr sz="2600" b="1">
                <a:solidFill>
                  <a:srgbClr val="143D59"/>
                </a:solidFill>
              </a:rPr>
              <a:t>Problem We Are Solving</a:t>
            </a:r>
          </a:p>
        </p:txBody>
      </p:sp>
      <p:sp>
        <p:nvSpPr>
          <p:cNvPr id="3" name="Rectangle 2"/>
          <p:cNvSpPr/>
          <p:nvPr/>
        </p:nvSpPr>
        <p:spPr>
          <a:xfrm>
            <a:off x="457200" y="914400"/>
            <a:ext cx="2194560" cy="73152"/>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607040" cy="822960"/>
          </a:xfrm>
          <a:prstGeom prst="rect">
            <a:avLst/>
          </a:prstGeom>
          <a:noFill/>
        </p:spPr>
        <p:txBody>
          <a:bodyPr wrap="square">
            <a:spAutoFit/>
          </a:bodyPr>
          <a:lstStyle/>
          <a:p>
            <a:r>
              <a:rPr sz="1600">
                <a:solidFill>
                  <a:srgbClr val="263238"/>
                </a:solidFill>
              </a:rPr>
              <a:t>Hospitals operate with thousands of SOPs, circulars, discharge policies, and insurance guidelines spread across PDFs, scans, and folders. During live patient interactions, staff need answers quickly but the information is hard to access.</a:t>
            </a:r>
          </a:p>
        </p:txBody>
      </p:sp>
      <p:sp>
        <p:nvSpPr>
          <p:cNvPr id="5" name="TextBox 4"/>
          <p:cNvSpPr txBox="1"/>
          <p:nvPr/>
        </p:nvSpPr>
        <p:spPr>
          <a:xfrm>
            <a:off x="822960" y="2011680"/>
            <a:ext cx="10149840" cy="4297680"/>
          </a:xfrm>
          <a:prstGeom prst="rect">
            <a:avLst/>
          </a:prstGeom>
          <a:noFill/>
        </p:spPr>
        <p:txBody>
          <a:bodyPr wrap="square">
            <a:spAutoFit/>
          </a:bodyPr>
          <a:lstStyle/>
          <a:p>
            <a:pPr>
              <a:defRPr sz="2000">
                <a:solidFill>
                  <a:srgbClr val="143D59"/>
                </a:solidFill>
              </a:defRPr>
            </a:pPr>
            <a:r>
              <a:t>Manual document search slows down admissions, discharge, and claim workflows</a:t>
            </a:r>
          </a:p>
          <a:p>
            <a:pPr>
              <a:defRPr sz="2000">
                <a:solidFill>
                  <a:srgbClr val="143D59"/>
                </a:solidFill>
              </a:defRPr>
            </a:pPr>
            <a:r>
              <a:t>Ayushman Bharat claim processing is difficult because eligibility, required documents, and pre-authorization steps are not easy to locate</a:t>
            </a:r>
          </a:p>
          <a:p>
            <a:pPr>
              <a:defRPr sz="2000">
                <a:solidFill>
                  <a:srgbClr val="143D59"/>
                </a:solidFill>
              </a:defRPr>
            </a:pPr>
            <a:r>
              <a:t>Staff often depend on senior colleagues instead of a reliable, searchable knowledge system</a:t>
            </a:r>
          </a:p>
          <a:p>
            <a:pPr>
              <a:defRPr sz="2000">
                <a:solidFill>
                  <a:srgbClr val="143D59"/>
                </a:solidFill>
              </a:defRPr>
            </a:pPr>
            <a:r>
              <a:t>English-only documents create communication barriers for multilingual staff and patients</a:t>
            </a:r>
          </a:p>
        </p:txBody>
      </p:sp>
      <p:sp>
        <p:nvSpPr>
          <p:cNvPr id="6" name="TextBox 5"/>
          <p:cNvSpPr txBox="1"/>
          <p:nvPr/>
        </p:nvSpPr>
        <p:spPr>
          <a:xfrm>
            <a:off x="548640" y="6309360"/>
            <a:ext cx="10972800" cy="274320"/>
          </a:xfrm>
          <a:prstGeom prst="rect">
            <a:avLst/>
          </a:prstGeom>
          <a:noFill/>
        </p:spPr>
        <p:txBody>
          <a:bodyPr wrap="none">
            <a:spAutoFit/>
          </a:bodyPr>
          <a:lstStyle/>
          <a:p>
            <a:r>
              <a:rPr sz="1000" i="1">
                <a:solidFill>
                  <a:srgbClr val="5C6570"/>
                </a:solidFill>
              </a:rPr>
              <a:t>Bottom line: hospital teams need an AI assistant that turns scattered documents into operational guidance.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155680" cy="640080"/>
          </a:xfrm>
          <a:prstGeom prst="rect">
            <a:avLst/>
          </a:prstGeom>
          <a:noFill/>
        </p:spPr>
        <p:txBody>
          <a:bodyPr wrap="none">
            <a:spAutoFit/>
          </a:bodyPr>
          <a:lstStyle/>
          <a:p>
            <a:pPr algn="l"/>
            <a:r>
              <a:rPr sz="2600" b="1">
                <a:solidFill>
                  <a:srgbClr val="143D59"/>
                </a:solidFill>
              </a:rPr>
              <a:t>Why This Problem Matters</a:t>
            </a:r>
          </a:p>
        </p:txBody>
      </p:sp>
      <p:sp>
        <p:nvSpPr>
          <p:cNvPr id="3" name="Rectangle 2"/>
          <p:cNvSpPr/>
          <p:nvPr/>
        </p:nvSpPr>
        <p:spPr>
          <a:xfrm>
            <a:off x="457200" y="914400"/>
            <a:ext cx="2194560" cy="73152"/>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2560320" cy="1417320"/>
          </a:xfrm>
          <a:prstGeom prst="roundRect">
            <a:avLst/>
          </a:prstGeom>
          <a:solidFill>
            <a:srgbClr val="E4EEF7"/>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63040"/>
            <a:ext cx="2286000" cy="320040"/>
          </a:xfrm>
          <a:prstGeom prst="rect">
            <a:avLst/>
          </a:prstGeom>
          <a:noFill/>
        </p:spPr>
        <p:txBody>
          <a:bodyPr wrap="none">
            <a:spAutoFit/>
          </a:bodyPr>
          <a:lstStyle/>
          <a:p>
            <a:r>
              <a:rPr b="1" sz="1500">
                <a:solidFill>
                  <a:srgbClr val="143D59"/>
                </a:solidFill>
              </a:rPr>
              <a:t>Operational Delay</a:t>
            </a:r>
          </a:p>
        </p:txBody>
      </p:sp>
      <p:sp>
        <p:nvSpPr>
          <p:cNvPr id="6" name="TextBox 5"/>
          <p:cNvSpPr txBox="1"/>
          <p:nvPr/>
        </p:nvSpPr>
        <p:spPr>
          <a:xfrm>
            <a:off x="868680" y="1783080"/>
            <a:ext cx="2286000" cy="914400"/>
          </a:xfrm>
          <a:prstGeom prst="rect">
            <a:avLst/>
          </a:prstGeom>
          <a:noFill/>
        </p:spPr>
        <p:txBody>
          <a:bodyPr wrap="square">
            <a:spAutoFit/>
          </a:bodyPr>
          <a:lstStyle/>
          <a:p>
            <a:r>
              <a:rPr sz="1100">
                <a:solidFill>
                  <a:srgbClr val="263238"/>
                </a:solidFill>
              </a:rPr>
              <a:t>Staff lose valuable time searching for the latest process and the right document section.</a:t>
            </a:r>
          </a:p>
        </p:txBody>
      </p:sp>
      <p:sp>
        <p:nvSpPr>
          <p:cNvPr id="7" name="Rounded Rectangle 6"/>
          <p:cNvSpPr/>
          <p:nvPr/>
        </p:nvSpPr>
        <p:spPr>
          <a:xfrm>
            <a:off x="3611880" y="1371600"/>
            <a:ext cx="2560320" cy="1417320"/>
          </a:xfrm>
          <a:prstGeom prst="roundRect">
            <a:avLst/>
          </a:prstGeom>
          <a:solidFill>
            <a:srgbClr val="FCEFE1"/>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40" y="1463040"/>
            <a:ext cx="2286000" cy="320040"/>
          </a:xfrm>
          <a:prstGeom prst="rect">
            <a:avLst/>
          </a:prstGeom>
          <a:noFill/>
        </p:spPr>
        <p:txBody>
          <a:bodyPr wrap="none">
            <a:spAutoFit/>
          </a:bodyPr>
          <a:lstStyle/>
          <a:p>
            <a:r>
              <a:rPr b="1" sz="1500">
                <a:solidFill>
                  <a:srgbClr val="143D59"/>
                </a:solidFill>
              </a:rPr>
              <a:t>Claim Rejections</a:t>
            </a:r>
          </a:p>
        </p:txBody>
      </p:sp>
      <p:sp>
        <p:nvSpPr>
          <p:cNvPr id="9" name="TextBox 8"/>
          <p:cNvSpPr txBox="1"/>
          <p:nvPr/>
        </p:nvSpPr>
        <p:spPr>
          <a:xfrm>
            <a:off x="3749040" y="1783080"/>
            <a:ext cx="2286000" cy="914400"/>
          </a:xfrm>
          <a:prstGeom prst="rect">
            <a:avLst/>
          </a:prstGeom>
          <a:noFill/>
        </p:spPr>
        <p:txBody>
          <a:bodyPr wrap="square">
            <a:spAutoFit/>
          </a:bodyPr>
          <a:lstStyle/>
          <a:p>
            <a:r>
              <a:rPr sz="1100">
                <a:solidFill>
                  <a:srgbClr val="263238"/>
                </a:solidFill>
              </a:rPr>
              <a:t>Missing documents or incomplete workflow understanding causes rework and rejected claims.</a:t>
            </a:r>
          </a:p>
        </p:txBody>
      </p:sp>
      <p:sp>
        <p:nvSpPr>
          <p:cNvPr id="10" name="Rounded Rectangle 9"/>
          <p:cNvSpPr/>
          <p:nvPr/>
        </p:nvSpPr>
        <p:spPr>
          <a:xfrm>
            <a:off x="6492240" y="1371600"/>
            <a:ext cx="2560320" cy="1417320"/>
          </a:xfrm>
          <a:prstGeom prst="roundRect">
            <a:avLst/>
          </a:prstGeom>
          <a:solidFill>
            <a:srgbClr val="E3F2ED"/>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1463040"/>
            <a:ext cx="2286000" cy="320040"/>
          </a:xfrm>
          <a:prstGeom prst="rect">
            <a:avLst/>
          </a:prstGeom>
          <a:noFill/>
        </p:spPr>
        <p:txBody>
          <a:bodyPr wrap="none">
            <a:spAutoFit/>
          </a:bodyPr>
          <a:lstStyle/>
          <a:p>
            <a:r>
              <a:rPr b="1" sz="1500">
                <a:solidFill>
                  <a:srgbClr val="143D59"/>
                </a:solidFill>
              </a:rPr>
              <a:t>Language Barrier</a:t>
            </a:r>
          </a:p>
        </p:txBody>
      </p:sp>
      <p:sp>
        <p:nvSpPr>
          <p:cNvPr id="12" name="TextBox 11"/>
          <p:cNvSpPr txBox="1"/>
          <p:nvPr/>
        </p:nvSpPr>
        <p:spPr>
          <a:xfrm>
            <a:off x="6629400" y="1783080"/>
            <a:ext cx="2286000" cy="914400"/>
          </a:xfrm>
          <a:prstGeom prst="rect">
            <a:avLst/>
          </a:prstGeom>
          <a:noFill/>
        </p:spPr>
        <p:txBody>
          <a:bodyPr wrap="square">
            <a:spAutoFit/>
          </a:bodyPr>
          <a:lstStyle/>
          <a:p>
            <a:r>
              <a:rPr sz="1100">
                <a:solidFill>
                  <a:srgbClr val="263238"/>
                </a:solidFill>
              </a:rPr>
              <a:t>Many hospital staff and patients are more comfortable in Hindi or a regional language.</a:t>
            </a:r>
          </a:p>
        </p:txBody>
      </p:sp>
      <p:sp>
        <p:nvSpPr>
          <p:cNvPr id="13" name="Rounded Rectangle 12"/>
          <p:cNvSpPr/>
          <p:nvPr/>
        </p:nvSpPr>
        <p:spPr>
          <a:xfrm>
            <a:off x="9372600" y="1371600"/>
            <a:ext cx="2057400" cy="1417320"/>
          </a:xfrm>
          <a:prstGeom prst="roundRect">
            <a:avLst/>
          </a:prstGeom>
          <a:solidFill>
            <a:srgbClr val="E4EEF7"/>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0" y="1463040"/>
            <a:ext cx="1783080" cy="320040"/>
          </a:xfrm>
          <a:prstGeom prst="rect">
            <a:avLst/>
          </a:prstGeom>
          <a:noFill/>
        </p:spPr>
        <p:txBody>
          <a:bodyPr wrap="none">
            <a:spAutoFit/>
          </a:bodyPr>
          <a:lstStyle/>
          <a:p>
            <a:r>
              <a:rPr b="1" sz="1500">
                <a:solidFill>
                  <a:srgbClr val="143D59"/>
                </a:solidFill>
              </a:rPr>
              <a:t>Compliance Risk</a:t>
            </a:r>
          </a:p>
        </p:txBody>
      </p:sp>
      <p:sp>
        <p:nvSpPr>
          <p:cNvPr id="15" name="TextBox 14"/>
          <p:cNvSpPr txBox="1"/>
          <p:nvPr/>
        </p:nvSpPr>
        <p:spPr>
          <a:xfrm>
            <a:off x="9509760" y="1783080"/>
            <a:ext cx="1783080" cy="914400"/>
          </a:xfrm>
          <a:prstGeom prst="rect">
            <a:avLst/>
          </a:prstGeom>
          <a:noFill/>
        </p:spPr>
        <p:txBody>
          <a:bodyPr wrap="square">
            <a:spAutoFit/>
          </a:bodyPr>
          <a:lstStyle/>
          <a:p>
            <a:r>
              <a:rPr sz="1100">
                <a:solidFill>
                  <a:srgbClr val="263238"/>
                </a:solidFill>
              </a:rPr>
              <a:t>Using outdated SOPs or wrong steps affects governance and service quality.</a:t>
            </a:r>
          </a:p>
        </p:txBody>
      </p:sp>
      <p:sp>
        <p:nvSpPr>
          <p:cNvPr id="16" name="Rounded Rectangle 15"/>
          <p:cNvSpPr/>
          <p:nvPr/>
        </p:nvSpPr>
        <p:spPr>
          <a:xfrm>
            <a:off x="868680" y="3657600"/>
            <a:ext cx="10515600" cy="1143000"/>
          </a:xfrm>
          <a:prstGeom prst="roundRect">
            <a:avLst/>
          </a:prstGeom>
          <a:solidFill>
            <a:srgbClr val="143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3000" y="3977639"/>
            <a:ext cx="9875520" cy="457200"/>
          </a:xfrm>
          <a:prstGeom prst="rect">
            <a:avLst/>
          </a:prstGeom>
          <a:noFill/>
        </p:spPr>
        <p:txBody>
          <a:bodyPr wrap="none">
            <a:spAutoFit/>
          </a:bodyPr>
          <a:lstStyle/>
          <a:p>
            <a:r>
              <a:rPr sz="2100" b="1">
                <a:solidFill>
                  <a:srgbClr val="FFFFFF"/>
                </a:solidFill>
              </a:rPr>
              <a:t>A small document-access problem creates a big business, compliance, and patient-service problem.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155680" cy="640080"/>
          </a:xfrm>
          <a:prstGeom prst="rect">
            <a:avLst/>
          </a:prstGeom>
          <a:noFill/>
        </p:spPr>
        <p:txBody>
          <a:bodyPr wrap="none">
            <a:spAutoFit/>
          </a:bodyPr>
          <a:lstStyle/>
          <a:p>
            <a:pPr algn="l"/>
            <a:r>
              <a:rPr sz="2600" b="1">
                <a:solidFill>
                  <a:srgbClr val="143D59"/>
                </a:solidFill>
              </a:rPr>
              <a:t>Our Solution</a:t>
            </a:r>
          </a:p>
        </p:txBody>
      </p:sp>
      <p:sp>
        <p:nvSpPr>
          <p:cNvPr id="3" name="Rectangle 2"/>
          <p:cNvSpPr/>
          <p:nvPr/>
        </p:nvSpPr>
        <p:spPr>
          <a:xfrm>
            <a:off x="457200" y="914400"/>
            <a:ext cx="2194560" cy="73152"/>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34440"/>
            <a:ext cx="10607040" cy="822960"/>
          </a:xfrm>
          <a:prstGeom prst="rect">
            <a:avLst/>
          </a:prstGeom>
          <a:noFill/>
        </p:spPr>
        <p:txBody>
          <a:bodyPr wrap="square">
            <a:spAutoFit/>
          </a:bodyPr>
          <a:lstStyle/>
          <a:p>
            <a:r>
              <a:rPr sz="1600">
                <a:solidFill>
                  <a:srgbClr val="263238"/>
                </a:solidFill>
              </a:rPr>
              <a:t>We propose an AI-powered multilingual document and insurance assistant for hospitals.</a:t>
            </a:r>
          </a:p>
        </p:txBody>
      </p:sp>
      <p:sp>
        <p:nvSpPr>
          <p:cNvPr id="5" name="TextBox 4"/>
          <p:cNvSpPr txBox="1"/>
          <p:nvPr/>
        </p:nvSpPr>
        <p:spPr>
          <a:xfrm>
            <a:off x="822960" y="2011680"/>
            <a:ext cx="10149840" cy="4297680"/>
          </a:xfrm>
          <a:prstGeom prst="rect">
            <a:avLst/>
          </a:prstGeom>
          <a:noFill/>
        </p:spPr>
        <p:txBody>
          <a:bodyPr wrap="square">
            <a:spAutoFit/>
          </a:bodyPr>
          <a:lstStyle/>
          <a:p>
            <a:pPr>
              <a:defRPr sz="2000">
                <a:solidFill>
                  <a:srgbClr val="143D59"/>
                </a:solidFill>
              </a:defRPr>
            </a:pPr>
            <a:r>
              <a:t>Ingest hospital SOPs, claim guidelines, discharge policies, and Ayushman workflow documents</a:t>
            </a:r>
          </a:p>
          <a:p>
            <a:pPr>
              <a:defRPr sz="2000">
                <a:solidFill>
                  <a:srgbClr val="143D59"/>
                </a:solidFill>
              </a:defRPr>
            </a:pPr>
            <a:r>
              <a:t>Use OCR to extract text from scanned files and make them searchable</a:t>
            </a:r>
          </a:p>
          <a:p>
            <a:pPr>
              <a:defRPr sz="2000">
                <a:solidFill>
                  <a:srgbClr val="143D59"/>
                </a:solidFill>
              </a:defRPr>
            </a:pPr>
            <a:r>
              <a:t>Answer staff questions through text or voice in English, Hindi, and regional languages</a:t>
            </a:r>
          </a:p>
          <a:p>
            <a:pPr>
              <a:defRPr sz="2000">
                <a:solidFill>
                  <a:srgbClr val="143D59"/>
                </a:solidFill>
              </a:defRPr>
            </a:pPr>
            <a:r>
              <a:t>Provide grounded answers with source-backed citations from uploaded documents</a:t>
            </a:r>
          </a:p>
          <a:p>
            <a:pPr>
              <a:defRPr sz="2000">
                <a:solidFill>
                  <a:srgbClr val="143D59"/>
                </a:solidFill>
              </a:defRPr>
            </a:pPr>
            <a:r>
              <a:t>Guide insurance desks through Ayushman claim steps, document checklists, and process clarifications</a:t>
            </a:r>
          </a:p>
        </p:txBody>
      </p:sp>
      <p:sp>
        <p:nvSpPr>
          <p:cNvPr id="6" name="TextBox 5"/>
          <p:cNvSpPr txBox="1"/>
          <p:nvPr/>
        </p:nvSpPr>
        <p:spPr>
          <a:xfrm>
            <a:off x="548640" y="6309360"/>
            <a:ext cx="10972800" cy="274320"/>
          </a:xfrm>
          <a:prstGeom prst="rect">
            <a:avLst/>
          </a:prstGeom>
          <a:noFill/>
        </p:spPr>
        <p:txBody>
          <a:bodyPr wrap="none">
            <a:spAutoFit/>
          </a:bodyPr>
          <a:lstStyle/>
          <a:p>
            <a:r>
              <a:rPr sz="1000" i="1">
                <a:solidFill>
                  <a:srgbClr val="5C6570"/>
                </a:solidFill>
              </a:rPr>
              <a:t>From document chaos to guided hospital decisions.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155680" cy="640080"/>
          </a:xfrm>
          <a:prstGeom prst="rect">
            <a:avLst/>
          </a:prstGeom>
          <a:noFill/>
        </p:spPr>
        <p:txBody>
          <a:bodyPr wrap="none">
            <a:spAutoFit/>
          </a:bodyPr>
          <a:lstStyle/>
          <a:p>
            <a:pPr algn="l"/>
            <a:r>
              <a:rPr sz="2600" b="1">
                <a:solidFill>
                  <a:srgbClr val="143D59"/>
                </a:solidFill>
              </a:rPr>
              <a:t>Key Features</a:t>
            </a:r>
          </a:p>
        </p:txBody>
      </p:sp>
      <p:sp>
        <p:nvSpPr>
          <p:cNvPr id="3" name="Rectangle 2"/>
          <p:cNvSpPr/>
          <p:nvPr/>
        </p:nvSpPr>
        <p:spPr>
          <a:xfrm>
            <a:off x="457200" y="914400"/>
            <a:ext cx="2194560" cy="73152"/>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371600"/>
            <a:ext cx="3108960" cy="1600200"/>
          </a:xfrm>
          <a:prstGeom prst="roundRect">
            <a:avLst/>
          </a:prstGeom>
          <a:solidFill>
            <a:srgbClr val="E4EEF7"/>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2834640" cy="320040"/>
          </a:xfrm>
          <a:prstGeom prst="rect">
            <a:avLst/>
          </a:prstGeom>
          <a:noFill/>
        </p:spPr>
        <p:txBody>
          <a:bodyPr wrap="none">
            <a:spAutoFit/>
          </a:bodyPr>
          <a:lstStyle/>
          <a:p>
            <a:r>
              <a:rPr b="1" sz="1500">
                <a:solidFill>
                  <a:srgbClr val="143D59"/>
                </a:solidFill>
              </a:rPr>
              <a:t>Document Upload &amp; OCR</a:t>
            </a:r>
          </a:p>
        </p:txBody>
      </p:sp>
      <p:sp>
        <p:nvSpPr>
          <p:cNvPr id="6" name="TextBox 5"/>
          <p:cNvSpPr txBox="1"/>
          <p:nvPr/>
        </p:nvSpPr>
        <p:spPr>
          <a:xfrm>
            <a:off x="777240" y="1783080"/>
            <a:ext cx="2834640" cy="1097280"/>
          </a:xfrm>
          <a:prstGeom prst="rect">
            <a:avLst/>
          </a:prstGeom>
          <a:noFill/>
        </p:spPr>
        <p:txBody>
          <a:bodyPr wrap="square">
            <a:spAutoFit/>
          </a:bodyPr>
          <a:lstStyle/>
          <a:p>
            <a:r>
              <a:rPr sz="1100">
                <a:solidFill>
                  <a:srgbClr val="263238"/>
                </a:solidFill>
              </a:rPr>
              <a:t>Upload PDFs, scans, forms, circulars, and SOPs; extract searchable text.</a:t>
            </a:r>
          </a:p>
        </p:txBody>
      </p:sp>
      <p:sp>
        <p:nvSpPr>
          <p:cNvPr id="7" name="Rounded Rectangle 6"/>
          <p:cNvSpPr/>
          <p:nvPr/>
        </p:nvSpPr>
        <p:spPr>
          <a:xfrm>
            <a:off x="4069080" y="1371600"/>
            <a:ext cx="3108960" cy="1600200"/>
          </a:xfrm>
          <a:prstGeom prst="roundRect">
            <a:avLst/>
          </a:prstGeom>
          <a:solidFill>
            <a:srgbClr val="E3F2ED"/>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06240" y="1463040"/>
            <a:ext cx="2834640" cy="320040"/>
          </a:xfrm>
          <a:prstGeom prst="rect">
            <a:avLst/>
          </a:prstGeom>
          <a:noFill/>
        </p:spPr>
        <p:txBody>
          <a:bodyPr wrap="none">
            <a:spAutoFit/>
          </a:bodyPr>
          <a:lstStyle/>
          <a:p>
            <a:r>
              <a:rPr b="1" sz="1500">
                <a:solidFill>
                  <a:srgbClr val="143D59"/>
                </a:solidFill>
              </a:rPr>
              <a:t>Semantic Search</a:t>
            </a:r>
          </a:p>
        </p:txBody>
      </p:sp>
      <p:sp>
        <p:nvSpPr>
          <p:cNvPr id="9" name="TextBox 8"/>
          <p:cNvSpPr txBox="1"/>
          <p:nvPr/>
        </p:nvSpPr>
        <p:spPr>
          <a:xfrm>
            <a:off x="4206240" y="1783080"/>
            <a:ext cx="2834640" cy="1097280"/>
          </a:xfrm>
          <a:prstGeom prst="rect">
            <a:avLst/>
          </a:prstGeom>
          <a:noFill/>
        </p:spPr>
        <p:txBody>
          <a:bodyPr wrap="square">
            <a:spAutoFit/>
          </a:bodyPr>
          <a:lstStyle/>
          <a:p>
            <a:r>
              <a:rPr sz="1100">
                <a:solidFill>
                  <a:srgbClr val="263238"/>
                </a:solidFill>
              </a:rPr>
              <a:t>Retrieve the right clause or policy section instantly.</a:t>
            </a:r>
          </a:p>
        </p:txBody>
      </p:sp>
      <p:sp>
        <p:nvSpPr>
          <p:cNvPr id="10" name="Rounded Rectangle 9"/>
          <p:cNvSpPr/>
          <p:nvPr/>
        </p:nvSpPr>
        <p:spPr>
          <a:xfrm>
            <a:off x="7498079" y="1371600"/>
            <a:ext cx="3108960" cy="1600200"/>
          </a:xfrm>
          <a:prstGeom prst="roundRect">
            <a:avLst/>
          </a:prstGeom>
          <a:solidFill>
            <a:srgbClr val="FCEFE1"/>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39" y="1463040"/>
            <a:ext cx="2834640" cy="320040"/>
          </a:xfrm>
          <a:prstGeom prst="rect">
            <a:avLst/>
          </a:prstGeom>
          <a:noFill/>
        </p:spPr>
        <p:txBody>
          <a:bodyPr wrap="none">
            <a:spAutoFit/>
          </a:bodyPr>
          <a:lstStyle/>
          <a:p>
            <a:r>
              <a:rPr b="1" sz="1500">
                <a:solidFill>
                  <a:srgbClr val="143D59"/>
                </a:solidFill>
              </a:rPr>
              <a:t>Multilingual Chat</a:t>
            </a:r>
          </a:p>
        </p:txBody>
      </p:sp>
      <p:sp>
        <p:nvSpPr>
          <p:cNvPr id="12" name="TextBox 11"/>
          <p:cNvSpPr txBox="1"/>
          <p:nvPr/>
        </p:nvSpPr>
        <p:spPr>
          <a:xfrm>
            <a:off x="7635239" y="1783080"/>
            <a:ext cx="2834640" cy="1097280"/>
          </a:xfrm>
          <a:prstGeom prst="rect">
            <a:avLst/>
          </a:prstGeom>
          <a:noFill/>
        </p:spPr>
        <p:txBody>
          <a:bodyPr wrap="square">
            <a:spAutoFit/>
          </a:bodyPr>
          <a:lstStyle/>
          <a:p>
            <a:r>
              <a:rPr sz="1100">
                <a:solidFill>
                  <a:srgbClr val="263238"/>
                </a:solidFill>
              </a:rPr>
              <a:t>Ask questions in English, Hindi, or another supported language.</a:t>
            </a:r>
          </a:p>
        </p:txBody>
      </p:sp>
      <p:sp>
        <p:nvSpPr>
          <p:cNvPr id="13" name="Rounded Rectangle 12"/>
          <p:cNvSpPr/>
          <p:nvPr/>
        </p:nvSpPr>
        <p:spPr>
          <a:xfrm>
            <a:off x="640080" y="3337560"/>
            <a:ext cx="3108960" cy="1600200"/>
          </a:xfrm>
          <a:prstGeom prst="roundRect">
            <a:avLst/>
          </a:prstGeom>
          <a:solidFill>
            <a:srgbClr val="E3F2ED"/>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429000"/>
            <a:ext cx="2834640" cy="320040"/>
          </a:xfrm>
          <a:prstGeom prst="rect">
            <a:avLst/>
          </a:prstGeom>
          <a:noFill/>
        </p:spPr>
        <p:txBody>
          <a:bodyPr wrap="none">
            <a:spAutoFit/>
          </a:bodyPr>
          <a:lstStyle/>
          <a:p>
            <a:r>
              <a:rPr b="1" sz="1500">
                <a:solidFill>
                  <a:srgbClr val="143D59"/>
                </a:solidFill>
              </a:rPr>
              <a:t>Voice Assistance</a:t>
            </a:r>
          </a:p>
        </p:txBody>
      </p:sp>
      <p:sp>
        <p:nvSpPr>
          <p:cNvPr id="15" name="TextBox 14"/>
          <p:cNvSpPr txBox="1"/>
          <p:nvPr/>
        </p:nvSpPr>
        <p:spPr>
          <a:xfrm>
            <a:off x="777240" y="3749040"/>
            <a:ext cx="2834640" cy="1097280"/>
          </a:xfrm>
          <a:prstGeom prst="rect">
            <a:avLst/>
          </a:prstGeom>
          <a:noFill/>
        </p:spPr>
        <p:txBody>
          <a:bodyPr wrap="square">
            <a:spAutoFit/>
          </a:bodyPr>
          <a:lstStyle/>
          <a:p>
            <a:r>
              <a:rPr sz="1100">
                <a:solidFill>
                  <a:srgbClr val="263238"/>
                </a:solidFill>
              </a:rPr>
              <a:t>Enable speech-to-text and text-to-speech for fast hands-free use.</a:t>
            </a:r>
          </a:p>
        </p:txBody>
      </p:sp>
      <p:sp>
        <p:nvSpPr>
          <p:cNvPr id="16" name="Rounded Rectangle 15"/>
          <p:cNvSpPr/>
          <p:nvPr/>
        </p:nvSpPr>
        <p:spPr>
          <a:xfrm>
            <a:off x="4069080" y="3337560"/>
            <a:ext cx="3108960" cy="1600200"/>
          </a:xfrm>
          <a:prstGeom prst="roundRect">
            <a:avLst/>
          </a:prstGeom>
          <a:solidFill>
            <a:srgbClr val="E4EEF7"/>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429000"/>
            <a:ext cx="2834640" cy="320040"/>
          </a:xfrm>
          <a:prstGeom prst="rect">
            <a:avLst/>
          </a:prstGeom>
          <a:noFill/>
        </p:spPr>
        <p:txBody>
          <a:bodyPr wrap="none">
            <a:spAutoFit/>
          </a:bodyPr>
          <a:lstStyle/>
          <a:p>
            <a:r>
              <a:rPr b="1" sz="1500">
                <a:solidFill>
                  <a:srgbClr val="143D59"/>
                </a:solidFill>
              </a:rPr>
              <a:t>Ayushman Claim Guidance</a:t>
            </a:r>
          </a:p>
        </p:txBody>
      </p:sp>
      <p:sp>
        <p:nvSpPr>
          <p:cNvPr id="18" name="TextBox 17"/>
          <p:cNvSpPr txBox="1"/>
          <p:nvPr/>
        </p:nvSpPr>
        <p:spPr>
          <a:xfrm>
            <a:off x="4206240" y="3749040"/>
            <a:ext cx="2834640" cy="1097280"/>
          </a:xfrm>
          <a:prstGeom prst="rect">
            <a:avLst/>
          </a:prstGeom>
          <a:noFill/>
        </p:spPr>
        <p:txBody>
          <a:bodyPr wrap="square">
            <a:spAutoFit/>
          </a:bodyPr>
          <a:lstStyle/>
          <a:p>
            <a:r>
              <a:rPr sz="1100">
                <a:solidFill>
                  <a:srgbClr val="263238"/>
                </a:solidFill>
              </a:rPr>
              <a:t>Get step-by-step assistance for eligibility, documents, and claim flow.</a:t>
            </a:r>
          </a:p>
        </p:txBody>
      </p:sp>
      <p:sp>
        <p:nvSpPr>
          <p:cNvPr id="19" name="Rounded Rectangle 18"/>
          <p:cNvSpPr/>
          <p:nvPr/>
        </p:nvSpPr>
        <p:spPr>
          <a:xfrm>
            <a:off x="7498079" y="3337560"/>
            <a:ext cx="3108960" cy="1600200"/>
          </a:xfrm>
          <a:prstGeom prst="roundRect">
            <a:avLst/>
          </a:prstGeom>
          <a:solidFill>
            <a:srgbClr val="FCEFE1"/>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35239" y="3429000"/>
            <a:ext cx="2834640" cy="320040"/>
          </a:xfrm>
          <a:prstGeom prst="rect">
            <a:avLst/>
          </a:prstGeom>
          <a:noFill/>
        </p:spPr>
        <p:txBody>
          <a:bodyPr wrap="none">
            <a:spAutoFit/>
          </a:bodyPr>
          <a:lstStyle/>
          <a:p>
            <a:r>
              <a:rPr b="1" sz="1500">
                <a:solidFill>
                  <a:srgbClr val="143D59"/>
                </a:solidFill>
              </a:rPr>
              <a:t>Source Citation</a:t>
            </a:r>
          </a:p>
        </p:txBody>
      </p:sp>
      <p:sp>
        <p:nvSpPr>
          <p:cNvPr id="21" name="TextBox 20"/>
          <p:cNvSpPr txBox="1"/>
          <p:nvPr/>
        </p:nvSpPr>
        <p:spPr>
          <a:xfrm>
            <a:off x="7635239" y="3749040"/>
            <a:ext cx="2834640" cy="1097280"/>
          </a:xfrm>
          <a:prstGeom prst="rect">
            <a:avLst/>
          </a:prstGeom>
          <a:noFill/>
        </p:spPr>
        <p:txBody>
          <a:bodyPr wrap="square">
            <a:spAutoFit/>
          </a:bodyPr>
          <a:lstStyle/>
          <a:p>
            <a:r>
              <a:rPr sz="1100">
                <a:solidFill>
                  <a:srgbClr val="263238"/>
                </a:solidFill>
              </a:rPr>
              <a:t>Every answer links back to the originating hospital document.</a:t>
            </a:r>
          </a:p>
        </p:txBody>
      </p:sp>
      <p:sp>
        <p:nvSpPr>
          <p:cNvPr id="22" name="TextBox 21"/>
          <p:cNvSpPr txBox="1"/>
          <p:nvPr/>
        </p:nvSpPr>
        <p:spPr>
          <a:xfrm>
            <a:off x="548640" y="6309360"/>
            <a:ext cx="10972800" cy="274320"/>
          </a:xfrm>
          <a:prstGeom prst="rect">
            <a:avLst/>
          </a:prstGeom>
          <a:noFill/>
        </p:spPr>
        <p:txBody>
          <a:bodyPr wrap="none">
            <a:spAutoFit/>
          </a:bodyPr>
          <a:lstStyle/>
          <a:p>
            <a:r>
              <a:rPr sz="1000" i="1">
                <a:solidFill>
                  <a:srgbClr val="5C6570"/>
                </a:solidFill>
              </a:rPr>
              <a:t>Future-ready for version comparison, analytics, and audit trails.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155680" cy="640080"/>
          </a:xfrm>
          <a:prstGeom prst="rect">
            <a:avLst/>
          </a:prstGeom>
          <a:noFill/>
        </p:spPr>
        <p:txBody>
          <a:bodyPr wrap="none">
            <a:spAutoFit/>
          </a:bodyPr>
          <a:lstStyle/>
          <a:p>
            <a:pPr algn="l"/>
            <a:r>
              <a:rPr sz="2600" b="1">
                <a:solidFill>
                  <a:srgbClr val="143D59"/>
                </a:solidFill>
              </a:rPr>
              <a:t>Ayushman Claim Workflow Use Case</a:t>
            </a:r>
          </a:p>
        </p:txBody>
      </p:sp>
      <p:sp>
        <p:nvSpPr>
          <p:cNvPr id="3" name="Rectangle 2"/>
          <p:cNvSpPr/>
          <p:nvPr/>
        </p:nvSpPr>
        <p:spPr>
          <a:xfrm>
            <a:off x="457200" y="914400"/>
            <a:ext cx="2194560" cy="73152"/>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371600"/>
            <a:ext cx="4754880" cy="3840480"/>
          </a:xfrm>
          <a:prstGeom prst="roundRect">
            <a:avLst/>
          </a:prstGeom>
          <a:solidFill>
            <a:srgbClr val="E4EEF7"/>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297680" cy="3200400"/>
          </a:xfrm>
          <a:prstGeom prst="rect">
            <a:avLst/>
          </a:prstGeom>
          <a:noFill/>
        </p:spPr>
        <p:txBody>
          <a:bodyPr wrap="square">
            <a:spAutoFit/>
          </a:bodyPr>
          <a:lstStyle/>
          <a:p>
            <a:pPr>
              <a:defRPr sz="1800" b="1">
                <a:solidFill>
                  <a:srgbClr val="143D59"/>
                </a:solidFill>
              </a:defRPr>
            </a:pPr>
            <a:r>
              <a:t>Patient arrives with an Ayushman Card</a:t>
            </a:r>
          </a:p>
          <a:p>
            <a:pPr>
              <a:defRPr sz="1600">
                <a:solidFill>
                  <a:srgbClr val="143D59"/>
                </a:solidFill>
              </a:defRPr>
            </a:pPr>
            <a:r>
              <a:t>Insurance desk must verify eligibility and required documents</a:t>
            </a:r>
          </a:p>
          <a:p>
            <a:pPr>
              <a:defRPr sz="1600">
                <a:solidFill>
                  <a:srgbClr val="143D59"/>
                </a:solidFill>
              </a:defRPr>
            </a:pPr>
            <a:r>
              <a:t>Team checks treatment/package guidance and pre-authorization needs</a:t>
            </a:r>
          </a:p>
          <a:p>
            <a:pPr>
              <a:defRPr sz="1600">
                <a:solidFill>
                  <a:srgbClr val="143D59"/>
                </a:solidFill>
              </a:defRPr>
            </a:pPr>
            <a:r>
              <a:t>System returns step-by-step instructions from hospital SOPs</a:t>
            </a:r>
          </a:p>
          <a:p>
            <a:pPr>
              <a:defRPr sz="1600">
                <a:solidFill>
                  <a:srgbClr val="143D59"/>
                </a:solidFill>
              </a:defRPr>
            </a:pPr>
            <a:r>
              <a:t>Answer is shown in English or Hindi with document evidence</a:t>
            </a:r>
          </a:p>
        </p:txBody>
      </p:sp>
      <p:sp>
        <p:nvSpPr>
          <p:cNvPr id="6" name="Rounded Rectangle 5"/>
          <p:cNvSpPr/>
          <p:nvPr/>
        </p:nvSpPr>
        <p:spPr>
          <a:xfrm>
            <a:off x="5806440" y="1554480"/>
            <a:ext cx="5440680" cy="914400"/>
          </a:xfrm>
          <a:prstGeom prst="round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80760" y="1828800"/>
            <a:ext cx="4892040" cy="457200"/>
          </a:xfrm>
          <a:prstGeom prst="rect">
            <a:avLst/>
          </a:prstGeom>
          <a:noFill/>
        </p:spPr>
        <p:txBody>
          <a:bodyPr wrap="none">
            <a:spAutoFit/>
          </a:bodyPr>
          <a:lstStyle/>
          <a:p>
            <a:r>
              <a:rPr sz="1700" b="1">
                <a:solidFill>
                  <a:srgbClr val="FFFFFF"/>
                </a:solidFill>
              </a:rPr>
              <a:t>"What documents are required for Ayushman claim submission?"</a:t>
            </a:r>
          </a:p>
        </p:txBody>
      </p:sp>
      <p:sp>
        <p:nvSpPr>
          <p:cNvPr id="8" name="Rounded Rectangle 7"/>
          <p:cNvSpPr/>
          <p:nvPr/>
        </p:nvSpPr>
        <p:spPr>
          <a:xfrm>
            <a:off x="5806440" y="2743200"/>
            <a:ext cx="5440680" cy="2148840"/>
          </a:xfrm>
          <a:prstGeom prst="roundRect">
            <a:avLst/>
          </a:prstGeom>
          <a:solidFill>
            <a:srgbClr val="E3F2ED"/>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3017520"/>
            <a:ext cx="4892040" cy="1645920"/>
          </a:xfrm>
          <a:prstGeom prst="rect">
            <a:avLst/>
          </a:prstGeom>
          <a:noFill/>
        </p:spPr>
        <p:txBody>
          <a:bodyPr wrap="square">
            <a:spAutoFit/>
          </a:bodyPr>
          <a:lstStyle/>
          <a:p>
            <a:pPr>
              <a:defRPr sz="1600">
                <a:solidFill>
                  <a:srgbClr val="263238"/>
                </a:solidFill>
              </a:defRPr>
            </a:pPr>
            <a:r>
              <a:t>Required document checklist</a:t>
            </a:r>
          </a:p>
          <a:p>
            <a:pPr>
              <a:defRPr sz="1600">
                <a:solidFill>
                  <a:srgbClr val="263238"/>
                </a:solidFill>
              </a:defRPr>
            </a:pPr>
            <a:r>
              <a:t>Pre-authorization and submission steps</a:t>
            </a:r>
          </a:p>
          <a:p>
            <a:pPr>
              <a:defRPr sz="1600">
                <a:solidFill>
                  <a:srgbClr val="263238"/>
                </a:solidFill>
              </a:defRPr>
            </a:pPr>
            <a:r>
              <a:t>Relevant hospital SOP reference</a:t>
            </a:r>
          </a:p>
          <a:p>
            <a:pPr>
              <a:defRPr sz="1600">
                <a:solidFill>
                  <a:srgbClr val="263238"/>
                </a:solidFill>
              </a:defRPr>
            </a:pPr>
            <a:r>
              <a:t>Hindi / English multilingual response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155680" cy="640080"/>
          </a:xfrm>
          <a:prstGeom prst="rect">
            <a:avLst/>
          </a:prstGeom>
          <a:noFill/>
        </p:spPr>
        <p:txBody>
          <a:bodyPr wrap="none">
            <a:spAutoFit/>
          </a:bodyPr>
          <a:lstStyle/>
          <a:p>
            <a:pPr algn="l"/>
            <a:r>
              <a:rPr sz="2600" b="1">
                <a:solidFill>
                  <a:srgbClr val="143D59"/>
                </a:solidFill>
              </a:rPr>
              <a:t>System Architecture</a:t>
            </a:r>
          </a:p>
        </p:txBody>
      </p:sp>
      <p:sp>
        <p:nvSpPr>
          <p:cNvPr id="3" name="Rectangle 2"/>
          <p:cNvSpPr/>
          <p:nvPr/>
        </p:nvSpPr>
        <p:spPr>
          <a:xfrm>
            <a:off x="457200" y="914400"/>
            <a:ext cx="2194560" cy="73152"/>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05840"/>
            <a:ext cx="11155680" cy="457200"/>
          </a:xfrm>
          <a:prstGeom prst="rect">
            <a:avLst/>
          </a:prstGeom>
          <a:noFill/>
        </p:spPr>
        <p:txBody>
          <a:bodyPr wrap="none">
            <a:spAutoFit/>
          </a:bodyPr>
          <a:lstStyle/>
          <a:p>
            <a:r>
              <a:rPr sz="1100">
                <a:solidFill>
                  <a:srgbClr val="5C6570"/>
                </a:solidFill>
              </a:rPr>
              <a:t>Layered architecture for multilingual document intelligence and claim guidance</a:t>
            </a:r>
          </a:p>
        </p:txBody>
      </p:sp>
      <p:sp>
        <p:nvSpPr>
          <p:cNvPr id="5" name="Rounded Rectangle 4"/>
          <p:cNvSpPr/>
          <p:nvPr/>
        </p:nvSpPr>
        <p:spPr>
          <a:xfrm>
            <a:off x="1005840" y="1234440"/>
            <a:ext cx="10149840" cy="841248"/>
          </a:xfrm>
          <a:prstGeom prst="roundRect">
            <a:avLst/>
          </a:prstGeom>
          <a:solidFill>
            <a:srgbClr val="E4EEF7"/>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307592"/>
            <a:ext cx="9875520" cy="256032"/>
          </a:xfrm>
          <a:prstGeom prst="rect">
            <a:avLst/>
          </a:prstGeom>
          <a:noFill/>
        </p:spPr>
        <p:txBody>
          <a:bodyPr wrap="none">
            <a:spAutoFit/>
          </a:bodyPr>
          <a:lstStyle/>
          <a:p>
            <a:pPr algn="ctr"/>
            <a:r>
              <a:rPr b="1" sz="1500">
                <a:solidFill>
                  <a:srgbClr val="143D59"/>
                </a:solidFill>
              </a:rPr>
              <a:t>USER INTERACTION</a:t>
            </a:r>
          </a:p>
        </p:txBody>
      </p:sp>
      <p:sp>
        <p:nvSpPr>
          <p:cNvPr id="7" name="TextBox 6"/>
          <p:cNvSpPr txBox="1"/>
          <p:nvPr/>
        </p:nvSpPr>
        <p:spPr>
          <a:xfrm>
            <a:off x="1143000" y="1618488"/>
            <a:ext cx="9875520" cy="338328"/>
          </a:xfrm>
          <a:prstGeom prst="rect">
            <a:avLst/>
          </a:prstGeom>
          <a:noFill/>
        </p:spPr>
        <p:txBody>
          <a:bodyPr wrap="square">
            <a:spAutoFit/>
          </a:bodyPr>
          <a:lstStyle/>
          <a:p>
            <a:pPr algn="ctr">
              <a:defRPr sz="1100">
                <a:solidFill>
                  <a:srgbClr val="263238"/>
                </a:solidFill>
              </a:defRPr>
            </a:pPr>
            <a:r>
              <a:t>Hospital Staff</a:t>
            </a:r>
          </a:p>
          <a:p>
            <a:pPr algn="ctr">
              <a:defRPr sz="1100">
                <a:solidFill>
                  <a:srgbClr val="263238"/>
                </a:solidFill>
              </a:defRPr>
            </a:pPr>
            <a:r>
              <a:t>Admin</a:t>
            </a:r>
          </a:p>
          <a:p>
            <a:pPr algn="ctr">
              <a:defRPr sz="1100">
                <a:solidFill>
                  <a:srgbClr val="263238"/>
                </a:solidFill>
              </a:defRPr>
            </a:pPr>
            <a:r>
              <a:t>Insurance Desk</a:t>
            </a:r>
          </a:p>
          <a:p>
            <a:pPr algn="ctr">
              <a:defRPr sz="1100">
                <a:solidFill>
                  <a:srgbClr val="263238"/>
                </a:solidFill>
              </a:defRPr>
            </a:pPr>
            <a:r>
              <a:t>Web / Mobile / Chat / Voice</a:t>
            </a:r>
          </a:p>
        </p:txBody>
      </p:sp>
      <p:sp>
        <p:nvSpPr>
          <p:cNvPr id="8" name="Rounded Rectangle 7"/>
          <p:cNvSpPr/>
          <p:nvPr/>
        </p:nvSpPr>
        <p:spPr>
          <a:xfrm>
            <a:off x="1005840" y="2194560"/>
            <a:ext cx="10149840" cy="841248"/>
          </a:xfrm>
          <a:prstGeom prst="roundRect">
            <a:avLst/>
          </a:prstGeom>
          <a:solidFill>
            <a:srgbClr val="F4F6F8"/>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267712"/>
            <a:ext cx="9875520" cy="256032"/>
          </a:xfrm>
          <a:prstGeom prst="rect">
            <a:avLst/>
          </a:prstGeom>
          <a:noFill/>
        </p:spPr>
        <p:txBody>
          <a:bodyPr wrap="none">
            <a:spAutoFit/>
          </a:bodyPr>
          <a:lstStyle/>
          <a:p>
            <a:pPr algn="ctr"/>
            <a:r>
              <a:rPr b="1" sz="1500">
                <a:solidFill>
                  <a:srgbClr val="143D59"/>
                </a:solidFill>
              </a:rPr>
              <a:t>APPLICATION &amp; ACCESS LAYER</a:t>
            </a:r>
          </a:p>
        </p:txBody>
      </p:sp>
      <p:sp>
        <p:nvSpPr>
          <p:cNvPr id="10" name="TextBox 9"/>
          <p:cNvSpPr txBox="1"/>
          <p:nvPr/>
        </p:nvSpPr>
        <p:spPr>
          <a:xfrm>
            <a:off x="1143000" y="2578608"/>
            <a:ext cx="9875520" cy="338328"/>
          </a:xfrm>
          <a:prstGeom prst="rect">
            <a:avLst/>
          </a:prstGeom>
          <a:noFill/>
        </p:spPr>
        <p:txBody>
          <a:bodyPr wrap="square">
            <a:spAutoFit/>
          </a:bodyPr>
          <a:lstStyle/>
          <a:p>
            <a:pPr algn="ctr">
              <a:defRPr sz="1100">
                <a:solidFill>
                  <a:srgbClr val="263238"/>
                </a:solidFill>
              </a:defRPr>
            </a:pPr>
            <a:r>
              <a:t>API Gateway</a:t>
            </a:r>
          </a:p>
          <a:p>
            <a:pPr algn="ctr">
              <a:defRPr sz="1100">
                <a:solidFill>
                  <a:srgbClr val="263238"/>
                </a:solidFill>
              </a:defRPr>
            </a:pPr>
            <a:r>
              <a:t>Authentication</a:t>
            </a:r>
          </a:p>
          <a:p>
            <a:pPr algn="ctr">
              <a:defRPr sz="1100">
                <a:solidFill>
                  <a:srgbClr val="263238"/>
                </a:solidFill>
              </a:defRPr>
            </a:pPr>
            <a:r>
              <a:t>Role-Based Access</a:t>
            </a:r>
          </a:p>
          <a:p>
            <a:pPr algn="ctr">
              <a:defRPr sz="1100">
                <a:solidFill>
                  <a:srgbClr val="263238"/>
                </a:solidFill>
              </a:defRPr>
            </a:pPr>
            <a:r>
              <a:t>Audit Logging</a:t>
            </a:r>
          </a:p>
        </p:txBody>
      </p:sp>
      <p:sp>
        <p:nvSpPr>
          <p:cNvPr id="11" name="Rounded Rectangle 10"/>
          <p:cNvSpPr/>
          <p:nvPr/>
        </p:nvSpPr>
        <p:spPr>
          <a:xfrm>
            <a:off x="1005840" y="3154680"/>
            <a:ext cx="10149840" cy="841248"/>
          </a:xfrm>
          <a:prstGeom prst="roundRect">
            <a:avLst/>
          </a:prstGeom>
          <a:solidFill>
            <a:srgbClr val="E3F2ED"/>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3227832"/>
            <a:ext cx="9875520" cy="256032"/>
          </a:xfrm>
          <a:prstGeom prst="rect">
            <a:avLst/>
          </a:prstGeom>
          <a:noFill/>
        </p:spPr>
        <p:txBody>
          <a:bodyPr wrap="none">
            <a:spAutoFit/>
          </a:bodyPr>
          <a:lstStyle/>
          <a:p>
            <a:pPr algn="ctr"/>
            <a:r>
              <a:rPr b="1" sz="1500">
                <a:solidFill>
                  <a:srgbClr val="143D59"/>
                </a:solidFill>
              </a:rPr>
              <a:t>AI ORCHESTRATION LAYER</a:t>
            </a:r>
          </a:p>
        </p:txBody>
      </p:sp>
      <p:sp>
        <p:nvSpPr>
          <p:cNvPr id="13" name="TextBox 12"/>
          <p:cNvSpPr txBox="1"/>
          <p:nvPr/>
        </p:nvSpPr>
        <p:spPr>
          <a:xfrm>
            <a:off x="1143000" y="3538728"/>
            <a:ext cx="9875520" cy="338328"/>
          </a:xfrm>
          <a:prstGeom prst="rect">
            <a:avLst/>
          </a:prstGeom>
          <a:noFill/>
        </p:spPr>
        <p:txBody>
          <a:bodyPr wrap="square">
            <a:spAutoFit/>
          </a:bodyPr>
          <a:lstStyle/>
          <a:p>
            <a:pPr algn="ctr">
              <a:defRPr sz="1100">
                <a:solidFill>
                  <a:srgbClr val="263238"/>
                </a:solidFill>
              </a:defRPr>
            </a:pPr>
            <a:r>
              <a:t>Query Router</a:t>
            </a:r>
          </a:p>
          <a:p>
            <a:pPr algn="ctr">
              <a:defRPr sz="1100">
                <a:solidFill>
                  <a:srgbClr val="263238"/>
                </a:solidFill>
              </a:defRPr>
            </a:pPr>
            <a:r>
              <a:t>Language Detection</a:t>
            </a:r>
          </a:p>
          <a:p>
            <a:pPr algn="ctr">
              <a:defRPr sz="1100">
                <a:solidFill>
                  <a:srgbClr val="263238"/>
                </a:solidFill>
              </a:defRPr>
            </a:pPr>
            <a:r>
              <a:t>Prompt Builder</a:t>
            </a:r>
          </a:p>
          <a:p>
            <a:pPr algn="ctr">
              <a:defRPr sz="1100">
                <a:solidFill>
                  <a:srgbClr val="263238"/>
                </a:solidFill>
              </a:defRPr>
            </a:pPr>
            <a:r>
              <a:t>RAG Workflow</a:t>
            </a:r>
          </a:p>
        </p:txBody>
      </p:sp>
      <p:sp>
        <p:nvSpPr>
          <p:cNvPr id="14" name="Rounded Rectangle 13"/>
          <p:cNvSpPr/>
          <p:nvPr/>
        </p:nvSpPr>
        <p:spPr>
          <a:xfrm>
            <a:off x="1005840" y="4114800"/>
            <a:ext cx="10149840" cy="841248"/>
          </a:xfrm>
          <a:prstGeom prst="roundRect">
            <a:avLst/>
          </a:prstGeom>
          <a:solidFill>
            <a:srgbClr val="FCEFE1"/>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4187952"/>
            <a:ext cx="9875520" cy="256032"/>
          </a:xfrm>
          <a:prstGeom prst="rect">
            <a:avLst/>
          </a:prstGeom>
          <a:noFill/>
        </p:spPr>
        <p:txBody>
          <a:bodyPr wrap="none">
            <a:spAutoFit/>
          </a:bodyPr>
          <a:lstStyle/>
          <a:p>
            <a:pPr algn="ctr"/>
            <a:r>
              <a:rPr b="1" sz="1500">
                <a:solidFill>
                  <a:srgbClr val="143D59"/>
                </a:solidFill>
              </a:rPr>
              <a:t>DOCUMENT INTELLIGENCE PIPELINE</a:t>
            </a:r>
          </a:p>
        </p:txBody>
      </p:sp>
      <p:sp>
        <p:nvSpPr>
          <p:cNvPr id="16" name="TextBox 15"/>
          <p:cNvSpPr txBox="1"/>
          <p:nvPr/>
        </p:nvSpPr>
        <p:spPr>
          <a:xfrm>
            <a:off x="1143000" y="4498848"/>
            <a:ext cx="9875520" cy="338328"/>
          </a:xfrm>
          <a:prstGeom prst="rect">
            <a:avLst/>
          </a:prstGeom>
          <a:noFill/>
        </p:spPr>
        <p:txBody>
          <a:bodyPr wrap="square">
            <a:spAutoFit/>
          </a:bodyPr>
          <a:lstStyle/>
          <a:p>
            <a:pPr algn="ctr">
              <a:defRPr sz="1100">
                <a:solidFill>
                  <a:srgbClr val="263238"/>
                </a:solidFill>
              </a:defRPr>
            </a:pPr>
            <a:r>
              <a:t>Upload Docs</a:t>
            </a:r>
          </a:p>
          <a:p>
            <a:pPr algn="ctr">
              <a:defRPr sz="1100">
                <a:solidFill>
                  <a:srgbClr val="263238"/>
                </a:solidFill>
              </a:defRPr>
            </a:pPr>
            <a:r>
              <a:t>OCR Extraction</a:t>
            </a:r>
          </a:p>
          <a:p>
            <a:pPr algn="ctr">
              <a:defRPr sz="1100">
                <a:solidFill>
                  <a:srgbClr val="263238"/>
                </a:solidFill>
              </a:defRPr>
            </a:pPr>
            <a:r>
              <a:t>Chunking</a:t>
            </a:r>
          </a:p>
          <a:p>
            <a:pPr algn="ctr">
              <a:defRPr sz="1100">
                <a:solidFill>
                  <a:srgbClr val="263238"/>
                </a:solidFill>
              </a:defRPr>
            </a:pPr>
            <a:r>
              <a:t>Metadata Tagging</a:t>
            </a:r>
          </a:p>
        </p:txBody>
      </p:sp>
      <p:sp>
        <p:nvSpPr>
          <p:cNvPr id="17" name="Rounded Rectangle 16"/>
          <p:cNvSpPr/>
          <p:nvPr/>
        </p:nvSpPr>
        <p:spPr>
          <a:xfrm>
            <a:off x="1005840" y="5074920"/>
            <a:ext cx="10149840" cy="841248"/>
          </a:xfrm>
          <a:prstGeom prst="roundRect">
            <a:avLst/>
          </a:prstGeom>
          <a:solidFill>
            <a:srgbClr val="F4F6F8"/>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5148072"/>
            <a:ext cx="9875520" cy="256032"/>
          </a:xfrm>
          <a:prstGeom prst="rect">
            <a:avLst/>
          </a:prstGeom>
          <a:noFill/>
        </p:spPr>
        <p:txBody>
          <a:bodyPr wrap="none">
            <a:spAutoFit/>
          </a:bodyPr>
          <a:lstStyle/>
          <a:p>
            <a:pPr algn="ctr"/>
            <a:r>
              <a:rPr b="1" sz="1500">
                <a:solidFill>
                  <a:srgbClr val="143D59"/>
                </a:solidFill>
              </a:rPr>
              <a:t>DATA LAYER</a:t>
            </a:r>
          </a:p>
        </p:txBody>
      </p:sp>
      <p:sp>
        <p:nvSpPr>
          <p:cNvPr id="19" name="TextBox 18"/>
          <p:cNvSpPr txBox="1"/>
          <p:nvPr/>
        </p:nvSpPr>
        <p:spPr>
          <a:xfrm>
            <a:off x="1143000" y="5458968"/>
            <a:ext cx="9875520" cy="338328"/>
          </a:xfrm>
          <a:prstGeom prst="rect">
            <a:avLst/>
          </a:prstGeom>
          <a:noFill/>
        </p:spPr>
        <p:txBody>
          <a:bodyPr wrap="square">
            <a:spAutoFit/>
          </a:bodyPr>
          <a:lstStyle/>
          <a:p>
            <a:pPr algn="ctr">
              <a:defRPr sz="1100">
                <a:solidFill>
                  <a:srgbClr val="263238"/>
                </a:solidFill>
              </a:defRPr>
            </a:pPr>
            <a:r>
              <a:t>Vector Database</a:t>
            </a:r>
          </a:p>
          <a:p>
            <a:pPr algn="ctr">
              <a:defRPr sz="1100">
                <a:solidFill>
                  <a:srgbClr val="263238"/>
                </a:solidFill>
              </a:defRPr>
            </a:pPr>
            <a:r>
              <a:t>Document Store</a:t>
            </a:r>
          </a:p>
          <a:p>
            <a:pPr algn="ctr">
              <a:defRPr sz="1100">
                <a:solidFill>
                  <a:srgbClr val="263238"/>
                </a:solidFill>
              </a:defRPr>
            </a:pPr>
            <a:r>
              <a:t>App DB</a:t>
            </a:r>
          </a:p>
          <a:p>
            <a:pPr algn="ctr">
              <a:defRPr sz="1100">
                <a:solidFill>
                  <a:srgbClr val="263238"/>
                </a:solidFill>
              </a:defRPr>
            </a:pPr>
            <a:r>
              <a:t>Users / Logs / Feedback</a:t>
            </a:r>
          </a:p>
        </p:txBody>
      </p:sp>
      <p:cxnSp>
        <p:nvCxnSpPr>
          <p:cNvPr id="20" name="Connector 19"/>
          <p:cNvCxnSpPr/>
          <p:nvPr/>
        </p:nvCxnSpPr>
        <p:spPr>
          <a:xfrm>
            <a:off x="6080760" y="2075688"/>
            <a:ext cx="0" cy="850392"/>
          </a:xfrm>
          <a:prstGeom prst="line">
            <a:avLst/>
          </a:prstGeom>
          <a:ln w="25400">
            <a:solidFill>
              <a:srgbClr val="1F8A7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080760" y="3035808"/>
            <a:ext cx="0" cy="850392"/>
          </a:xfrm>
          <a:prstGeom prst="line">
            <a:avLst/>
          </a:prstGeom>
          <a:ln w="25400">
            <a:solidFill>
              <a:srgbClr val="1F8A7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80760" y="3995928"/>
            <a:ext cx="0" cy="850392"/>
          </a:xfrm>
          <a:prstGeom prst="line">
            <a:avLst/>
          </a:prstGeom>
          <a:ln w="25400">
            <a:solidFill>
              <a:srgbClr val="1F8A7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080760" y="4956048"/>
            <a:ext cx="0" cy="850392"/>
          </a:xfrm>
          <a:prstGeom prst="line">
            <a:avLst/>
          </a:prstGeom>
          <a:ln w="25400">
            <a:solidFill>
              <a:srgbClr val="1F8A7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155680" cy="640080"/>
          </a:xfrm>
          <a:prstGeom prst="rect">
            <a:avLst/>
          </a:prstGeom>
          <a:noFill/>
        </p:spPr>
        <p:txBody>
          <a:bodyPr wrap="none">
            <a:spAutoFit/>
          </a:bodyPr>
          <a:lstStyle/>
          <a:p>
            <a:pPr algn="l"/>
            <a:r>
              <a:rPr sz="2600" b="1">
                <a:solidFill>
                  <a:srgbClr val="143D59"/>
                </a:solidFill>
              </a:rPr>
              <a:t>How It Works</a:t>
            </a:r>
          </a:p>
        </p:txBody>
      </p:sp>
      <p:sp>
        <p:nvSpPr>
          <p:cNvPr id="3" name="Rectangle 2"/>
          <p:cNvSpPr/>
          <p:nvPr/>
        </p:nvSpPr>
        <p:spPr>
          <a:xfrm>
            <a:off x="457200" y="914400"/>
            <a:ext cx="2194560" cy="73152"/>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2103120"/>
            <a:ext cx="1755648" cy="1280160"/>
          </a:xfrm>
          <a:prstGeom prst="roundRect">
            <a:avLst/>
          </a:prstGeom>
          <a:solidFill>
            <a:srgbClr val="E4EEF7"/>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43000" y="1645920"/>
            <a:ext cx="457200" cy="457200"/>
          </a:xfrm>
          <a:prstGeom prst="ellipse">
            <a:avLst/>
          </a:prstGeom>
          <a:solidFill>
            <a:srgbClr val="143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71016" y="1755648"/>
            <a:ext cx="228600" cy="182880"/>
          </a:xfrm>
          <a:prstGeom prst="rect">
            <a:avLst/>
          </a:prstGeom>
          <a:noFill/>
        </p:spPr>
        <p:txBody>
          <a:bodyPr wrap="none">
            <a:spAutoFit/>
          </a:bodyPr>
          <a:lstStyle/>
          <a:p>
            <a:r>
              <a:rPr sz="1200" b="1">
                <a:solidFill>
                  <a:srgbClr val="FFFFFF"/>
                </a:solidFill>
              </a:rPr>
              <a:t>1</a:t>
            </a:r>
          </a:p>
        </p:txBody>
      </p:sp>
      <p:sp>
        <p:nvSpPr>
          <p:cNvPr id="7" name="TextBox 6"/>
          <p:cNvSpPr txBox="1"/>
          <p:nvPr/>
        </p:nvSpPr>
        <p:spPr>
          <a:xfrm>
            <a:off x="640080" y="2331720"/>
            <a:ext cx="1481328" cy="822960"/>
          </a:xfrm>
          <a:prstGeom prst="rect">
            <a:avLst/>
          </a:prstGeom>
          <a:noFill/>
        </p:spPr>
        <p:txBody>
          <a:bodyPr wrap="square">
            <a:spAutoFit/>
          </a:bodyPr>
          <a:lstStyle/>
          <a:p>
            <a:r>
              <a:rPr sz="1100">
                <a:solidFill>
                  <a:srgbClr val="263238"/>
                </a:solidFill>
              </a:rPr>
              <a:t>Hospital uploads SOPs, claim guidelines, and Ayushman documents</a:t>
            </a:r>
          </a:p>
        </p:txBody>
      </p:sp>
      <p:cxnSp>
        <p:nvCxnSpPr>
          <p:cNvPr id="8" name="Connector 7"/>
          <p:cNvCxnSpPr/>
          <p:nvPr/>
        </p:nvCxnSpPr>
        <p:spPr>
          <a:xfrm>
            <a:off x="2286000" y="2743200"/>
            <a:ext cx="0" cy="0"/>
          </a:xfrm>
          <a:prstGeom prst="line">
            <a:avLst/>
          </a:prstGeom>
          <a:ln w="25400">
            <a:solidFill>
              <a:srgbClr val="1F8A70"/>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23160" y="2103120"/>
            <a:ext cx="1755648" cy="1280160"/>
          </a:xfrm>
          <a:prstGeom prst="roundRect">
            <a:avLst/>
          </a:prstGeom>
          <a:solidFill>
            <a:srgbClr val="E3F2ED"/>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063240" y="1645920"/>
            <a:ext cx="457200" cy="457200"/>
          </a:xfrm>
          <a:prstGeom prst="ellipse">
            <a:avLst/>
          </a:prstGeom>
          <a:solidFill>
            <a:srgbClr val="143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91256" y="1755648"/>
            <a:ext cx="228600" cy="182880"/>
          </a:xfrm>
          <a:prstGeom prst="rect">
            <a:avLst/>
          </a:prstGeom>
          <a:noFill/>
        </p:spPr>
        <p:txBody>
          <a:bodyPr wrap="none">
            <a:spAutoFit/>
          </a:bodyPr>
          <a:lstStyle/>
          <a:p>
            <a:r>
              <a:rPr sz="1200" b="1">
                <a:solidFill>
                  <a:srgbClr val="FFFFFF"/>
                </a:solidFill>
              </a:rPr>
              <a:t>2</a:t>
            </a:r>
          </a:p>
        </p:txBody>
      </p:sp>
      <p:sp>
        <p:nvSpPr>
          <p:cNvPr id="12" name="TextBox 11"/>
          <p:cNvSpPr txBox="1"/>
          <p:nvPr/>
        </p:nvSpPr>
        <p:spPr>
          <a:xfrm>
            <a:off x="2560320" y="2331720"/>
            <a:ext cx="1481328" cy="822960"/>
          </a:xfrm>
          <a:prstGeom prst="rect">
            <a:avLst/>
          </a:prstGeom>
          <a:noFill/>
        </p:spPr>
        <p:txBody>
          <a:bodyPr wrap="square">
            <a:spAutoFit/>
          </a:bodyPr>
          <a:lstStyle/>
          <a:p>
            <a:r>
              <a:rPr sz="1100">
                <a:solidFill>
                  <a:srgbClr val="263238"/>
                </a:solidFill>
              </a:rPr>
              <a:t>OCR extracts text from scanned files and images</a:t>
            </a:r>
          </a:p>
        </p:txBody>
      </p:sp>
      <p:cxnSp>
        <p:nvCxnSpPr>
          <p:cNvPr id="13" name="Connector 12"/>
          <p:cNvCxnSpPr/>
          <p:nvPr/>
        </p:nvCxnSpPr>
        <p:spPr>
          <a:xfrm>
            <a:off x="4206240" y="2743200"/>
            <a:ext cx="0" cy="0"/>
          </a:xfrm>
          <a:prstGeom prst="line">
            <a:avLst/>
          </a:prstGeom>
          <a:ln w="25400">
            <a:solidFill>
              <a:srgbClr val="1F8A7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343400" y="2103120"/>
            <a:ext cx="1755648" cy="1280160"/>
          </a:xfrm>
          <a:prstGeom prst="roundRect">
            <a:avLst/>
          </a:prstGeom>
          <a:solidFill>
            <a:srgbClr val="FCEFE1"/>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983480" y="1645920"/>
            <a:ext cx="457200" cy="457200"/>
          </a:xfrm>
          <a:prstGeom prst="ellipse">
            <a:avLst/>
          </a:prstGeom>
          <a:solidFill>
            <a:srgbClr val="143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11496" y="1755648"/>
            <a:ext cx="228600" cy="182880"/>
          </a:xfrm>
          <a:prstGeom prst="rect">
            <a:avLst/>
          </a:prstGeom>
          <a:noFill/>
        </p:spPr>
        <p:txBody>
          <a:bodyPr wrap="none">
            <a:spAutoFit/>
          </a:bodyPr>
          <a:lstStyle/>
          <a:p>
            <a:r>
              <a:rPr sz="1200" b="1">
                <a:solidFill>
                  <a:srgbClr val="FFFFFF"/>
                </a:solidFill>
              </a:rPr>
              <a:t>3</a:t>
            </a:r>
          </a:p>
        </p:txBody>
      </p:sp>
      <p:sp>
        <p:nvSpPr>
          <p:cNvPr id="17" name="TextBox 16"/>
          <p:cNvSpPr txBox="1"/>
          <p:nvPr/>
        </p:nvSpPr>
        <p:spPr>
          <a:xfrm>
            <a:off x="4480560" y="2331720"/>
            <a:ext cx="1481328" cy="822960"/>
          </a:xfrm>
          <a:prstGeom prst="rect">
            <a:avLst/>
          </a:prstGeom>
          <a:noFill/>
        </p:spPr>
        <p:txBody>
          <a:bodyPr wrap="square">
            <a:spAutoFit/>
          </a:bodyPr>
          <a:lstStyle/>
          <a:p>
            <a:r>
              <a:rPr sz="1100">
                <a:solidFill>
                  <a:srgbClr val="263238"/>
                </a:solidFill>
              </a:rPr>
              <a:t>Documents are chunked, tagged, and indexed in the vector database</a:t>
            </a:r>
          </a:p>
        </p:txBody>
      </p:sp>
      <p:cxnSp>
        <p:nvCxnSpPr>
          <p:cNvPr id="18" name="Connector 17"/>
          <p:cNvCxnSpPr/>
          <p:nvPr/>
        </p:nvCxnSpPr>
        <p:spPr>
          <a:xfrm>
            <a:off x="6126480" y="2743200"/>
            <a:ext cx="0" cy="0"/>
          </a:xfrm>
          <a:prstGeom prst="line">
            <a:avLst/>
          </a:prstGeom>
          <a:ln w="25400">
            <a:solidFill>
              <a:srgbClr val="1F8A7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63640" y="2103120"/>
            <a:ext cx="1755648" cy="1280160"/>
          </a:xfrm>
          <a:prstGeom prst="roundRect">
            <a:avLst/>
          </a:prstGeom>
          <a:solidFill>
            <a:srgbClr val="E4EEF7"/>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903720" y="1645920"/>
            <a:ext cx="457200" cy="457200"/>
          </a:xfrm>
          <a:prstGeom prst="ellipse">
            <a:avLst/>
          </a:prstGeom>
          <a:solidFill>
            <a:srgbClr val="143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31736" y="1755648"/>
            <a:ext cx="228600" cy="182880"/>
          </a:xfrm>
          <a:prstGeom prst="rect">
            <a:avLst/>
          </a:prstGeom>
          <a:noFill/>
        </p:spPr>
        <p:txBody>
          <a:bodyPr wrap="none">
            <a:spAutoFit/>
          </a:bodyPr>
          <a:lstStyle/>
          <a:p>
            <a:r>
              <a:rPr sz="1200" b="1">
                <a:solidFill>
                  <a:srgbClr val="FFFFFF"/>
                </a:solidFill>
              </a:rPr>
              <a:t>4</a:t>
            </a:r>
          </a:p>
        </p:txBody>
      </p:sp>
      <p:sp>
        <p:nvSpPr>
          <p:cNvPr id="22" name="TextBox 21"/>
          <p:cNvSpPr txBox="1"/>
          <p:nvPr/>
        </p:nvSpPr>
        <p:spPr>
          <a:xfrm>
            <a:off x="6400800" y="2331720"/>
            <a:ext cx="1481328" cy="822960"/>
          </a:xfrm>
          <a:prstGeom prst="rect">
            <a:avLst/>
          </a:prstGeom>
          <a:noFill/>
        </p:spPr>
        <p:txBody>
          <a:bodyPr wrap="square">
            <a:spAutoFit/>
          </a:bodyPr>
          <a:lstStyle/>
          <a:p>
            <a:r>
              <a:rPr sz="1100">
                <a:solidFill>
                  <a:srgbClr val="263238"/>
                </a:solidFill>
              </a:rPr>
              <a:t>Staff asks a question through chat or voice</a:t>
            </a:r>
          </a:p>
        </p:txBody>
      </p:sp>
      <p:cxnSp>
        <p:nvCxnSpPr>
          <p:cNvPr id="23" name="Connector 22"/>
          <p:cNvCxnSpPr/>
          <p:nvPr/>
        </p:nvCxnSpPr>
        <p:spPr>
          <a:xfrm>
            <a:off x="8046719" y="2743200"/>
            <a:ext cx="0" cy="0"/>
          </a:xfrm>
          <a:prstGeom prst="line">
            <a:avLst/>
          </a:prstGeom>
          <a:ln w="25400">
            <a:solidFill>
              <a:srgbClr val="1F8A7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83879" y="2103120"/>
            <a:ext cx="1755648" cy="1280160"/>
          </a:xfrm>
          <a:prstGeom prst="roundRect">
            <a:avLst/>
          </a:prstGeom>
          <a:solidFill>
            <a:srgbClr val="E3F2ED"/>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823959" y="1645920"/>
            <a:ext cx="457200" cy="457200"/>
          </a:xfrm>
          <a:prstGeom prst="ellipse">
            <a:avLst/>
          </a:prstGeom>
          <a:solidFill>
            <a:srgbClr val="143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51976" y="1755648"/>
            <a:ext cx="228600" cy="182880"/>
          </a:xfrm>
          <a:prstGeom prst="rect">
            <a:avLst/>
          </a:prstGeom>
          <a:noFill/>
        </p:spPr>
        <p:txBody>
          <a:bodyPr wrap="none">
            <a:spAutoFit/>
          </a:bodyPr>
          <a:lstStyle/>
          <a:p>
            <a:r>
              <a:rPr sz="1200" b="1">
                <a:solidFill>
                  <a:srgbClr val="FFFFFF"/>
                </a:solidFill>
              </a:rPr>
              <a:t>5</a:t>
            </a:r>
          </a:p>
        </p:txBody>
      </p:sp>
      <p:sp>
        <p:nvSpPr>
          <p:cNvPr id="27" name="TextBox 26"/>
          <p:cNvSpPr txBox="1"/>
          <p:nvPr/>
        </p:nvSpPr>
        <p:spPr>
          <a:xfrm>
            <a:off x="8321040" y="2331720"/>
            <a:ext cx="1481328" cy="822960"/>
          </a:xfrm>
          <a:prstGeom prst="rect">
            <a:avLst/>
          </a:prstGeom>
          <a:noFill/>
        </p:spPr>
        <p:txBody>
          <a:bodyPr wrap="square">
            <a:spAutoFit/>
          </a:bodyPr>
          <a:lstStyle/>
          <a:p>
            <a:r>
              <a:rPr sz="1100">
                <a:solidFill>
                  <a:srgbClr val="263238"/>
                </a:solidFill>
              </a:rPr>
              <a:t>System retrieves relevant sections and generates a grounded answer</a:t>
            </a:r>
          </a:p>
        </p:txBody>
      </p:sp>
      <p:cxnSp>
        <p:nvCxnSpPr>
          <p:cNvPr id="28" name="Connector 27"/>
          <p:cNvCxnSpPr/>
          <p:nvPr/>
        </p:nvCxnSpPr>
        <p:spPr>
          <a:xfrm>
            <a:off x="9966959" y="2743200"/>
            <a:ext cx="0" cy="0"/>
          </a:xfrm>
          <a:prstGeom prst="line">
            <a:avLst/>
          </a:prstGeom>
          <a:ln w="25400">
            <a:solidFill>
              <a:srgbClr val="1F8A70"/>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0104119" y="2103120"/>
            <a:ext cx="1755648" cy="1280160"/>
          </a:xfrm>
          <a:prstGeom prst="roundRect">
            <a:avLst/>
          </a:prstGeom>
          <a:solidFill>
            <a:srgbClr val="FCEFE1"/>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744199" y="1645920"/>
            <a:ext cx="457200" cy="457200"/>
          </a:xfrm>
          <a:prstGeom prst="ellipse">
            <a:avLst/>
          </a:prstGeom>
          <a:solidFill>
            <a:srgbClr val="143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872215" y="1755648"/>
            <a:ext cx="228600" cy="182880"/>
          </a:xfrm>
          <a:prstGeom prst="rect">
            <a:avLst/>
          </a:prstGeom>
          <a:noFill/>
        </p:spPr>
        <p:txBody>
          <a:bodyPr wrap="none">
            <a:spAutoFit/>
          </a:bodyPr>
          <a:lstStyle/>
          <a:p>
            <a:r>
              <a:rPr sz="1200" b="1">
                <a:solidFill>
                  <a:srgbClr val="FFFFFF"/>
                </a:solidFill>
              </a:rPr>
              <a:t>6</a:t>
            </a:r>
          </a:p>
        </p:txBody>
      </p:sp>
      <p:sp>
        <p:nvSpPr>
          <p:cNvPr id="32" name="TextBox 31"/>
          <p:cNvSpPr txBox="1"/>
          <p:nvPr/>
        </p:nvSpPr>
        <p:spPr>
          <a:xfrm>
            <a:off x="10241280" y="2331720"/>
            <a:ext cx="1481328" cy="822960"/>
          </a:xfrm>
          <a:prstGeom prst="rect">
            <a:avLst/>
          </a:prstGeom>
          <a:noFill/>
        </p:spPr>
        <p:txBody>
          <a:bodyPr wrap="square">
            <a:spAutoFit/>
          </a:bodyPr>
          <a:lstStyle/>
          <a:p>
            <a:r>
              <a:rPr sz="1100">
                <a:solidFill>
                  <a:srgbClr val="263238"/>
                </a:solidFill>
              </a:rPr>
              <a:t>Response is returned in English or Hindi with source citation</a:t>
            </a:r>
          </a:p>
        </p:txBody>
      </p:sp>
      <p:sp>
        <p:nvSpPr>
          <p:cNvPr id="33" name="TextBox 32"/>
          <p:cNvSpPr txBox="1"/>
          <p:nvPr/>
        </p:nvSpPr>
        <p:spPr>
          <a:xfrm>
            <a:off x="548640" y="6309360"/>
            <a:ext cx="10972800" cy="274320"/>
          </a:xfrm>
          <a:prstGeom prst="rect">
            <a:avLst/>
          </a:prstGeom>
          <a:noFill/>
        </p:spPr>
        <p:txBody>
          <a:bodyPr wrap="none">
            <a:spAutoFit/>
          </a:bodyPr>
          <a:lstStyle/>
          <a:p>
            <a:r>
              <a:rPr sz="1000" i="1">
                <a:solidFill>
                  <a:srgbClr val="5C6570"/>
                </a:solidFill>
              </a:rPr>
              <a:t>Example query: "Patient ke Ayushman claim ke liye kaunse documents chahiye?"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155680" cy="640080"/>
          </a:xfrm>
          <a:prstGeom prst="rect">
            <a:avLst/>
          </a:prstGeom>
          <a:noFill/>
        </p:spPr>
        <p:txBody>
          <a:bodyPr wrap="none">
            <a:spAutoFit/>
          </a:bodyPr>
          <a:lstStyle/>
          <a:p>
            <a:pPr algn="l"/>
            <a:r>
              <a:rPr sz="2600" b="1">
                <a:solidFill>
                  <a:srgbClr val="143D59"/>
                </a:solidFill>
              </a:rPr>
              <a:t>Technology Stack &amp; API Mapping</a:t>
            </a:r>
          </a:p>
        </p:txBody>
      </p:sp>
      <p:sp>
        <p:nvSpPr>
          <p:cNvPr id="3" name="Rectangle 2"/>
          <p:cNvSpPr/>
          <p:nvPr/>
        </p:nvSpPr>
        <p:spPr>
          <a:xfrm>
            <a:off x="457200" y="914400"/>
            <a:ext cx="2194560" cy="73152"/>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0080" y="1463040"/>
            <a:ext cx="2560320" cy="2011680"/>
          </a:xfrm>
          <a:prstGeom prst="roundRect">
            <a:avLst/>
          </a:prstGeom>
          <a:solidFill>
            <a:srgbClr val="E4EEF7"/>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554480"/>
            <a:ext cx="2286000" cy="320040"/>
          </a:xfrm>
          <a:prstGeom prst="rect">
            <a:avLst/>
          </a:prstGeom>
          <a:noFill/>
        </p:spPr>
        <p:txBody>
          <a:bodyPr wrap="none">
            <a:spAutoFit/>
          </a:bodyPr>
          <a:lstStyle/>
          <a:p>
            <a:r>
              <a:rPr b="1" sz="1500">
                <a:solidFill>
                  <a:srgbClr val="143D59"/>
                </a:solidFill>
              </a:rPr>
              <a:t>Frontend</a:t>
            </a:r>
          </a:p>
        </p:txBody>
      </p:sp>
      <p:sp>
        <p:nvSpPr>
          <p:cNvPr id="6" name="TextBox 5"/>
          <p:cNvSpPr txBox="1"/>
          <p:nvPr/>
        </p:nvSpPr>
        <p:spPr>
          <a:xfrm>
            <a:off x="777240" y="1874520"/>
            <a:ext cx="2286000" cy="1508760"/>
          </a:xfrm>
          <a:prstGeom prst="rect">
            <a:avLst/>
          </a:prstGeom>
          <a:noFill/>
        </p:spPr>
        <p:txBody>
          <a:bodyPr wrap="square">
            <a:spAutoFit/>
          </a:bodyPr>
          <a:lstStyle/>
          <a:p>
            <a:r>
              <a:rPr sz="1100">
                <a:solidFill>
                  <a:srgbClr val="263238"/>
                </a:solidFill>
              </a:rPr>
              <a:t>React or Next.js web app
Chat UI
Voice input button
Admin upload dashboard</a:t>
            </a:r>
          </a:p>
        </p:txBody>
      </p:sp>
      <p:sp>
        <p:nvSpPr>
          <p:cNvPr id="7" name="Rounded Rectangle 6"/>
          <p:cNvSpPr/>
          <p:nvPr/>
        </p:nvSpPr>
        <p:spPr>
          <a:xfrm>
            <a:off x="3520440" y="1463040"/>
            <a:ext cx="2560320" cy="2011680"/>
          </a:xfrm>
          <a:prstGeom prst="roundRect">
            <a:avLst/>
          </a:prstGeom>
          <a:solidFill>
            <a:srgbClr val="E3F2ED"/>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1554480"/>
            <a:ext cx="2286000" cy="320040"/>
          </a:xfrm>
          <a:prstGeom prst="rect">
            <a:avLst/>
          </a:prstGeom>
          <a:noFill/>
        </p:spPr>
        <p:txBody>
          <a:bodyPr wrap="none">
            <a:spAutoFit/>
          </a:bodyPr>
          <a:lstStyle/>
          <a:p>
            <a:r>
              <a:rPr b="1" sz="1500">
                <a:solidFill>
                  <a:srgbClr val="143D59"/>
                </a:solidFill>
              </a:rPr>
              <a:t>Backend</a:t>
            </a:r>
          </a:p>
        </p:txBody>
      </p:sp>
      <p:sp>
        <p:nvSpPr>
          <p:cNvPr id="9" name="TextBox 8"/>
          <p:cNvSpPr txBox="1"/>
          <p:nvPr/>
        </p:nvSpPr>
        <p:spPr>
          <a:xfrm>
            <a:off x="3657600" y="1874520"/>
            <a:ext cx="2286000" cy="1508760"/>
          </a:xfrm>
          <a:prstGeom prst="rect">
            <a:avLst/>
          </a:prstGeom>
          <a:noFill/>
        </p:spPr>
        <p:txBody>
          <a:bodyPr wrap="square">
            <a:spAutoFit/>
          </a:bodyPr>
          <a:lstStyle/>
          <a:p>
            <a:r>
              <a:rPr sz="1100">
                <a:solidFill>
                  <a:srgbClr val="263238"/>
                </a:solidFill>
              </a:rPr>
              <a:t>Node.js or Python service
Auth and role management
RAG pipeline
Response orchestration</a:t>
            </a:r>
          </a:p>
        </p:txBody>
      </p:sp>
      <p:sp>
        <p:nvSpPr>
          <p:cNvPr id="10" name="Rounded Rectangle 9"/>
          <p:cNvSpPr/>
          <p:nvPr/>
        </p:nvSpPr>
        <p:spPr>
          <a:xfrm>
            <a:off x="6400800" y="1463040"/>
            <a:ext cx="2560320" cy="2011680"/>
          </a:xfrm>
          <a:prstGeom prst="roundRect">
            <a:avLst/>
          </a:prstGeom>
          <a:solidFill>
            <a:srgbClr val="FCEFE1"/>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554480"/>
            <a:ext cx="2286000" cy="320040"/>
          </a:xfrm>
          <a:prstGeom prst="rect">
            <a:avLst/>
          </a:prstGeom>
          <a:noFill/>
        </p:spPr>
        <p:txBody>
          <a:bodyPr wrap="none">
            <a:spAutoFit/>
          </a:bodyPr>
          <a:lstStyle/>
          <a:p>
            <a:r>
              <a:rPr b="1" sz="1500">
                <a:solidFill>
                  <a:srgbClr val="143D59"/>
                </a:solidFill>
              </a:rPr>
              <a:t>Data Layer</a:t>
            </a:r>
          </a:p>
        </p:txBody>
      </p:sp>
      <p:sp>
        <p:nvSpPr>
          <p:cNvPr id="12" name="TextBox 11"/>
          <p:cNvSpPr txBox="1"/>
          <p:nvPr/>
        </p:nvSpPr>
        <p:spPr>
          <a:xfrm>
            <a:off x="6537960" y="1874520"/>
            <a:ext cx="2286000" cy="1508760"/>
          </a:xfrm>
          <a:prstGeom prst="rect">
            <a:avLst/>
          </a:prstGeom>
          <a:noFill/>
        </p:spPr>
        <p:txBody>
          <a:bodyPr wrap="square">
            <a:spAutoFit/>
          </a:bodyPr>
          <a:lstStyle/>
          <a:p>
            <a:r>
              <a:rPr sz="1100">
                <a:solidFill>
                  <a:srgbClr val="263238"/>
                </a:solidFill>
              </a:rPr>
              <a:t>Vector database
SQL or NoSQL metadata store
Blob storage for documents</a:t>
            </a:r>
          </a:p>
        </p:txBody>
      </p:sp>
      <p:sp>
        <p:nvSpPr>
          <p:cNvPr id="13" name="Rounded Rectangle 12"/>
          <p:cNvSpPr/>
          <p:nvPr/>
        </p:nvSpPr>
        <p:spPr>
          <a:xfrm>
            <a:off x="9281160" y="1463040"/>
            <a:ext cx="2240280" cy="2011680"/>
          </a:xfrm>
          <a:prstGeom prst="roundRect">
            <a:avLst/>
          </a:prstGeom>
          <a:solidFill>
            <a:srgbClr val="E4EEF7"/>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0" y="1554480"/>
            <a:ext cx="1965960" cy="320040"/>
          </a:xfrm>
          <a:prstGeom prst="rect">
            <a:avLst/>
          </a:prstGeom>
          <a:noFill/>
        </p:spPr>
        <p:txBody>
          <a:bodyPr wrap="none">
            <a:spAutoFit/>
          </a:bodyPr>
          <a:lstStyle/>
          <a:p>
            <a:r>
              <a:rPr b="1" sz="1500">
                <a:solidFill>
                  <a:srgbClr val="143D59"/>
                </a:solidFill>
              </a:rPr>
              <a:t>Sarvam APIs</a:t>
            </a:r>
          </a:p>
        </p:txBody>
      </p:sp>
      <p:sp>
        <p:nvSpPr>
          <p:cNvPr id="15" name="TextBox 14"/>
          <p:cNvSpPr txBox="1"/>
          <p:nvPr/>
        </p:nvSpPr>
        <p:spPr>
          <a:xfrm>
            <a:off x="9418320" y="1874520"/>
            <a:ext cx="1965960" cy="1508760"/>
          </a:xfrm>
          <a:prstGeom prst="rect">
            <a:avLst/>
          </a:prstGeom>
          <a:noFill/>
        </p:spPr>
        <p:txBody>
          <a:bodyPr wrap="square">
            <a:spAutoFit/>
          </a:bodyPr>
          <a:lstStyle/>
          <a:p>
            <a:r>
              <a:rPr sz="1100">
                <a:solidFill>
                  <a:srgbClr val="263238"/>
                </a:solidFill>
              </a:rPr>
              <a:t>Chat Completion
Translation
Speech-to-Text
Text-to-Speech
Document Intelligence</a:t>
            </a:r>
          </a:p>
        </p:txBody>
      </p:sp>
      <p:sp>
        <p:nvSpPr>
          <p:cNvPr id="16" name="Rounded Rectangle 15"/>
          <p:cNvSpPr/>
          <p:nvPr/>
        </p:nvSpPr>
        <p:spPr>
          <a:xfrm>
            <a:off x="1097280" y="4069080"/>
            <a:ext cx="9966960" cy="1005840"/>
          </a:xfrm>
          <a:prstGeom prst="roundRect">
            <a:avLst/>
          </a:prstGeom>
          <a:solidFill>
            <a:srgbClr val="143D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71600" y="4370832"/>
            <a:ext cx="9418320" cy="457200"/>
          </a:xfrm>
          <a:prstGeom prst="rect">
            <a:avLst/>
          </a:prstGeom>
          <a:noFill/>
        </p:spPr>
        <p:txBody>
          <a:bodyPr wrap="none">
            <a:spAutoFit/>
          </a:bodyPr>
          <a:lstStyle/>
          <a:p>
            <a:r>
              <a:rPr sz="2000" b="1">
                <a:solidFill>
                  <a:srgbClr val="FFFFFF"/>
                </a:solidFill>
              </a:rPr>
              <a:t>Strong fit for Sarvam: document extraction + multilingual intelligence + voice + grounded chat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228600"/>
            <a:ext cx="11155680" cy="640080"/>
          </a:xfrm>
          <a:prstGeom prst="rect">
            <a:avLst/>
          </a:prstGeom>
          <a:noFill/>
        </p:spPr>
        <p:txBody>
          <a:bodyPr wrap="none">
            <a:spAutoFit/>
          </a:bodyPr>
          <a:lstStyle/>
          <a:p>
            <a:pPr algn="l"/>
            <a:r>
              <a:rPr sz="2600" b="1">
                <a:solidFill>
                  <a:srgbClr val="143D59"/>
                </a:solidFill>
              </a:rPr>
              <a:t>Impact &amp; Future Scope</a:t>
            </a:r>
          </a:p>
        </p:txBody>
      </p:sp>
      <p:sp>
        <p:nvSpPr>
          <p:cNvPr id="3" name="Rectangle 2"/>
          <p:cNvSpPr/>
          <p:nvPr/>
        </p:nvSpPr>
        <p:spPr>
          <a:xfrm>
            <a:off x="457200" y="914400"/>
            <a:ext cx="2194560" cy="73152"/>
          </a:xfrm>
          <a:prstGeom prst="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554480"/>
            <a:ext cx="5166360" cy="3017520"/>
          </a:xfrm>
          <a:prstGeom prst="roundRect">
            <a:avLst/>
          </a:prstGeom>
          <a:solidFill>
            <a:srgbClr val="E3F2ED"/>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4892040" cy="320040"/>
          </a:xfrm>
          <a:prstGeom prst="rect">
            <a:avLst/>
          </a:prstGeom>
          <a:noFill/>
        </p:spPr>
        <p:txBody>
          <a:bodyPr wrap="none">
            <a:spAutoFit/>
          </a:bodyPr>
          <a:lstStyle/>
          <a:p>
            <a:r>
              <a:rPr b="1" sz="1500">
                <a:solidFill>
                  <a:srgbClr val="143D59"/>
                </a:solidFill>
              </a:rPr>
              <a:t>Impact</a:t>
            </a:r>
          </a:p>
        </p:txBody>
      </p:sp>
      <p:sp>
        <p:nvSpPr>
          <p:cNvPr id="6" name="TextBox 5"/>
          <p:cNvSpPr txBox="1"/>
          <p:nvPr/>
        </p:nvSpPr>
        <p:spPr>
          <a:xfrm>
            <a:off x="868680" y="1965960"/>
            <a:ext cx="4892040" cy="2514600"/>
          </a:xfrm>
          <a:prstGeom prst="rect">
            <a:avLst/>
          </a:prstGeom>
          <a:noFill/>
        </p:spPr>
        <p:txBody>
          <a:bodyPr wrap="square">
            <a:spAutoFit/>
          </a:bodyPr>
          <a:lstStyle/>
          <a:p>
            <a:r>
              <a:rPr sz="1100">
                <a:solidFill>
                  <a:srgbClr val="263238"/>
                </a:solidFill>
              </a:rPr>
              <a:t>Faster claim processing
Fewer documentation mistakes
Reduced claim rejection
Improved compliance
Better multilingual support
Faster staff onboarding</a:t>
            </a:r>
          </a:p>
        </p:txBody>
      </p:sp>
      <p:sp>
        <p:nvSpPr>
          <p:cNvPr id="7" name="Rounded Rectangle 6"/>
          <p:cNvSpPr/>
          <p:nvPr/>
        </p:nvSpPr>
        <p:spPr>
          <a:xfrm>
            <a:off x="6263640" y="1554480"/>
            <a:ext cx="5166360" cy="3017520"/>
          </a:xfrm>
          <a:prstGeom prst="roundRect">
            <a:avLst/>
          </a:prstGeom>
          <a:solidFill>
            <a:srgbClr val="E4EEF7"/>
          </a:solidFill>
          <a:ln>
            <a:solidFill>
              <a:srgbClr val="D0D6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92040" cy="320040"/>
          </a:xfrm>
          <a:prstGeom prst="rect">
            <a:avLst/>
          </a:prstGeom>
          <a:noFill/>
        </p:spPr>
        <p:txBody>
          <a:bodyPr wrap="none">
            <a:spAutoFit/>
          </a:bodyPr>
          <a:lstStyle/>
          <a:p>
            <a:r>
              <a:rPr b="1" sz="1500">
                <a:solidFill>
                  <a:srgbClr val="143D59"/>
                </a:solidFill>
              </a:rPr>
              <a:t>Future Scope</a:t>
            </a:r>
          </a:p>
        </p:txBody>
      </p:sp>
      <p:sp>
        <p:nvSpPr>
          <p:cNvPr id="9" name="TextBox 8"/>
          <p:cNvSpPr txBox="1"/>
          <p:nvPr/>
        </p:nvSpPr>
        <p:spPr>
          <a:xfrm>
            <a:off x="6400800" y="1965960"/>
            <a:ext cx="4892040" cy="2514600"/>
          </a:xfrm>
          <a:prstGeom prst="rect">
            <a:avLst/>
          </a:prstGeom>
          <a:noFill/>
        </p:spPr>
        <p:txBody>
          <a:bodyPr wrap="square">
            <a:spAutoFit/>
          </a:bodyPr>
          <a:lstStyle/>
          <a:p>
            <a:r>
              <a:rPr sz="1100">
                <a:solidFill>
                  <a:srgbClr val="263238"/>
                </a:solidFill>
              </a:rPr>
              <a:t>Claim rejection prediction
Policy version comparison
Patient-facing assistant
Analytics dashboard
Hospital management system integration
Expansion to other insurance workflows</a:t>
            </a:r>
          </a:p>
        </p:txBody>
      </p:sp>
      <p:sp>
        <p:nvSpPr>
          <p:cNvPr id="10" name="Rounded Rectangle 9"/>
          <p:cNvSpPr/>
          <p:nvPr/>
        </p:nvSpPr>
        <p:spPr>
          <a:xfrm>
            <a:off x="960120" y="5074920"/>
            <a:ext cx="10241280" cy="868680"/>
          </a:xfrm>
          <a:prstGeom prst="roundRect">
            <a:avLst/>
          </a:prstGeom>
          <a:solidFill>
            <a:srgbClr val="1F8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5349240"/>
            <a:ext cx="9509760" cy="274320"/>
          </a:xfrm>
          <a:prstGeom prst="rect">
            <a:avLst/>
          </a:prstGeom>
          <a:noFill/>
        </p:spPr>
        <p:txBody>
          <a:bodyPr wrap="none">
            <a:spAutoFit/>
          </a:bodyPr>
          <a:lstStyle/>
          <a:p>
            <a:r>
              <a:rPr sz="1800" b="1">
                <a:solidFill>
                  <a:srgbClr val="FFFFFF"/>
                </a:solidFill>
              </a:rPr>
              <a:t>Transforming static hospital documents into a multilingual AI assistant for real-time operational decisions.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